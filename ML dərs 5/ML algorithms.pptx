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92"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58FCE0-8840-423D-97B8-CAC1A712816E}">
  <a:tblStyle styleId="{0058FCE0-8840-423D-97B8-CAC1A712816E}"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dk1"/>
              </a:solidFill>
              <a:prstDash val="solid"/>
              <a:round/>
              <a:headEnd type="none" w="sm" len="sm"/>
              <a:tailEnd type="none" w="sm" len="sm"/>
            </a:ln>
          </a:top>
        </a:tcBdr>
        <a:fill>
          <a:solidFill>
            <a:srgbClr val="E8EBF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2"/>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a:extLst>
            <a:ext uri="{FF2B5EF4-FFF2-40B4-BE49-F238E27FC236}">
              <a16:creationId xmlns:a16="http://schemas.microsoft.com/office/drawing/2014/main" id="{9774FAC3-C015-D052-94D3-3D6FC88E424D}"/>
            </a:ext>
          </a:extLst>
        </p:cNvPr>
        <p:cNvGrpSpPr/>
        <p:nvPr/>
      </p:nvGrpSpPr>
      <p:grpSpPr>
        <a:xfrm>
          <a:off x="0" y="0"/>
          <a:ext cx="0" cy="0"/>
          <a:chOff x="0" y="0"/>
          <a:chExt cx="0" cy="0"/>
        </a:xfrm>
      </p:grpSpPr>
      <p:sp>
        <p:nvSpPr>
          <p:cNvPr id="236" name="Google Shape;236;p22:notes">
            <a:extLst>
              <a:ext uri="{FF2B5EF4-FFF2-40B4-BE49-F238E27FC236}">
                <a16:creationId xmlns:a16="http://schemas.microsoft.com/office/drawing/2014/main" id="{3FCB1211-0FD6-2D93-D206-38B27457F7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22:notes">
            <a:extLst>
              <a:ext uri="{FF2B5EF4-FFF2-40B4-BE49-F238E27FC236}">
                <a16:creationId xmlns:a16="http://schemas.microsoft.com/office/drawing/2014/main" id="{57F399BB-BCB1-A051-F4FF-CDCBDCE59B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9732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1524000" y="1122362"/>
            <a:ext cx="9144000" cy="3383136"/>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Supervised Machine Learning </a:t>
            </a:r>
            <a:br>
              <a:rPr lang="en-US"/>
            </a:br>
            <a:r>
              <a:rPr lang="en-US"/>
              <a:t>algorithms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0" i="0" u="none" strike="noStrike" cap="none">
                <a:solidFill>
                  <a:schemeClr val="dk1"/>
                </a:solidFill>
                <a:latin typeface="Calibri"/>
                <a:ea typeface="Calibri"/>
                <a:cs typeface="Calibri"/>
                <a:sym typeface="Calibri"/>
              </a:rPr>
              <a:t>K-Nearest Neighbors (KNN)</a:t>
            </a:r>
            <a:endParaRPr sz="2800">
              <a:solidFill>
                <a:schemeClr val="dk1"/>
              </a:solidFill>
              <a:latin typeface="Calibri"/>
              <a:ea typeface="Calibri"/>
              <a:cs typeface="Calibri"/>
              <a:sym typeface="Calibri"/>
            </a:endParaRPr>
          </a:p>
        </p:txBody>
      </p:sp>
      <p:pic>
        <p:nvPicPr>
          <p:cNvPr id="90" name="Google Shape;90;p14"/>
          <p:cNvPicPr preferRelativeResize="0"/>
          <p:nvPr/>
        </p:nvPicPr>
        <p:blipFill rotWithShape="1">
          <a:blip r:embed="rId3">
            <a:alphaModFix/>
          </a:blip>
          <a:srcRect/>
          <a:stretch/>
        </p:blipFill>
        <p:spPr>
          <a:xfrm>
            <a:off x="2502593" y="1632296"/>
            <a:ext cx="7186814" cy="359340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K-Nearest Neighbors (KNN)</a:t>
            </a:r>
            <a:endParaRPr sz="2800">
              <a:solidFill>
                <a:schemeClr val="dk1"/>
              </a:solidFill>
              <a:latin typeface="Calibri"/>
              <a:ea typeface="Calibri"/>
              <a:cs typeface="Calibri"/>
              <a:sym typeface="Calibri"/>
            </a:endParaRPr>
          </a:p>
        </p:txBody>
      </p:sp>
      <p:pic>
        <p:nvPicPr>
          <p:cNvPr id="96" name="Google Shape;96;p15"/>
          <p:cNvPicPr preferRelativeResize="0"/>
          <p:nvPr/>
        </p:nvPicPr>
        <p:blipFill rotWithShape="1">
          <a:blip r:embed="rId3">
            <a:alphaModFix/>
          </a:blip>
          <a:srcRect/>
          <a:stretch/>
        </p:blipFill>
        <p:spPr>
          <a:xfrm>
            <a:off x="2502593" y="1632296"/>
            <a:ext cx="7186814" cy="35934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6"/>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K-Nearest Neighbors (KNN)</a:t>
            </a:r>
            <a:endParaRPr sz="2800">
              <a:solidFill>
                <a:schemeClr val="dk1"/>
              </a:solidFill>
              <a:latin typeface="Calibri"/>
              <a:ea typeface="Calibri"/>
              <a:cs typeface="Calibri"/>
              <a:sym typeface="Calibri"/>
            </a:endParaRPr>
          </a:p>
        </p:txBody>
      </p:sp>
      <p:pic>
        <p:nvPicPr>
          <p:cNvPr id="102" name="Google Shape;102;p16"/>
          <p:cNvPicPr preferRelativeResize="0"/>
          <p:nvPr/>
        </p:nvPicPr>
        <p:blipFill rotWithShape="1">
          <a:blip r:embed="rId3">
            <a:alphaModFix/>
          </a:blip>
          <a:srcRect/>
          <a:stretch/>
        </p:blipFill>
        <p:spPr>
          <a:xfrm>
            <a:off x="2502594" y="1632297"/>
            <a:ext cx="7186812" cy="35934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7"/>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K-Nearest Neighbors (KNN)</a:t>
            </a:r>
            <a:endParaRPr sz="2800">
              <a:solidFill>
                <a:schemeClr val="dk1"/>
              </a:solidFill>
              <a:latin typeface="Calibri"/>
              <a:ea typeface="Calibri"/>
              <a:cs typeface="Calibri"/>
              <a:sym typeface="Calibri"/>
            </a:endParaRPr>
          </a:p>
        </p:txBody>
      </p:sp>
      <p:pic>
        <p:nvPicPr>
          <p:cNvPr id="108" name="Google Shape;108;p17"/>
          <p:cNvPicPr preferRelativeResize="0"/>
          <p:nvPr/>
        </p:nvPicPr>
        <p:blipFill rotWithShape="1">
          <a:blip r:embed="rId3">
            <a:alphaModFix/>
          </a:blip>
          <a:srcRect/>
          <a:stretch/>
        </p:blipFill>
        <p:spPr>
          <a:xfrm>
            <a:off x="4732569" y="3429000"/>
            <a:ext cx="7248987" cy="3324283"/>
          </a:xfrm>
          <a:prstGeom prst="rect">
            <a:avLst/>
          </a:prstGeom>
          <a:noFill/>
          <a:ln>
            <a:noFill/>
          </a:ln>
        </p:spPr>
      </p:pic>
      <p:pic>
        <p:nvPicPr>
          <p:cNvPr id="109" name="Google Shape;109;p17"/>
          <p:cNvPicPr preferRelativeResize="0"/>
          <p:nvPr/>
        </p:nvPicPr>
        <p:blipFill rotWithShape="1">
          <a:blip r:embed="rId4">
            <a:alphaModFix/>
          </a:blip>
          <a:srcRect/>
          <a:stretch/>
        </p:blipFill>
        <p:spPr>
          <a:xfrm>
            <a:off x="310198" y="698719"/>
            <a:ext cx="5334144" cy="266707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K-Nearest Neighbors (KNN)</a:t>
            </a:r>
            <a:endParaRPr sz="2800">
              <a:solidFill>
                <a:schemeClr val="dk1"/>
              </a:solidFill>
              <a:latin typeface="Calibri"/>
              <a:ea typeface="Calibri"/>
              <a:cs typeface="Calibri"/>
              <a:sym typeface="Calibri"/>
            </a:endParaRPr>
          </a:p>
        </p:txBody>
      </p:sp>
      <p:sp>
        <p:nvSpPr>
          <p:cNvPr id="115" name="Google Shape;115;p18"/>
          <p:cNvSpPr txBox="1">
            <a:spLocks noGrp="1"/>
          </p:cNvSpPr>
          <p:nvPr>
            <p:ph type="body" idx="1"/>
          </p:nvPr>
        </p:nvSpPr>
        <p:spPr>
          <a:xfrm>
            <a:off x="838200" y="1230284"/>
            <a:ext cx="10515600" cy="172904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a:t>Evklid məsafəsi (Euclidean distance) Evklid fəzasındakı iki nöqtə arasındakı düz xətt məsafəsidir, onlar arasında mümkün olan ən qısa yolu təmsil edir və adətən Pifaqor teoremi ilə hesablanır.</a:t>
            </a:r>
            <a:endParaRPr sz="2400"/>
          </a:p>
        </p:txBody>
      </p:sp>
      <p:pic>
        <p:nvPicPr>
          <p:cNvPr id="116" name="Google Shape;116;p18"/>
          <p:cNvPicPr preferRelativeResize="0"/>
          <p:nvPr/>
        </p:nvPicPr>
        <p:blipFill rotWithShape="1">
          <a:blip r:embed="rId3">
            <a:alphaModFix/>
          </a:blip>
          <a:srcRect l="17092" t="11943" r="17588" b="18764"/>
          <a:stretch/>
        </p:blipFill>
        <p:spPr>
          <a:xfrm>
            <a:off x="3777832" y="2959331"/>
            <a:ext cx="4636336" cy="31326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K-Nearest Neighbors (KNN)</a:t>
            </a:r>
            <a:endParaRPr sz="2800">
              <a:solidFill>
                <a:schemeClr val="dk1"/>
              </a:solidFill>
              <a:latin typeface="Calibri"/>
              <a:ea typeface="Calibri"/>
              <a:cs typeface="Calibri"/>
              <a:sym typeface="Calibri"/>
            </a:endParaRPr>
          </a:p>
        </p:txBody>
      </p:sp>
      <p:pic>
        <p:nvPicPr>
          <p:cNvPr id="122" name="Google Shape;122;p19"/>
          <p:cNvPicPr preferRelativeResize="0"/>
          <p:nvPr/>
        </p:nvPicPr>
        <p:blipFill rotWithShape="1">
          <a:blip r:embed="rId3">
            <a:alphaModFix/>
          </a:blip>
          <a:srcRect l="16426" t="9976" r="16301" b="5453"/>
          <a:stretch/>
        </p:blipFill>
        <p:spPr>
          <a:xfrm>
            <a:off x="899940" y="1498363"/>
            <a:ext cx="4724874" cy="4229100"/>
          </a:xfrm>
          <a:prstGeom prst="rect">
            <a:avLst/>
          </a:prstGeom>
          <a:noFill/>
          <a:ln>
            <a:noFill/>
          </a:ln>
        </p:spPr>
      </p:pic>
      <p:pic>
        <p:nvPicPr>
          <p:cNvPr id="123" name="Google Shape;123;p19"/>
          <p:cNvPicPr preferRelativeResize="0"/>
          <p:nvPr/>
        </p:nvPicPr>
        <p:blipFill rotWithShape="1">
          <a:blip r:embed="rId4">
            <a:alphaModFix/>
          </a:blip>
          <a:srcRect/>
          <a:stretch/>
        </p:blipFill>
        <p:spPr>
          <a:xfrm>
            <a:off x="6449291" y="1498363"/>
            <a:ext cx="5029200" cy="4229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Naive Bayes</a:t>
            </a:r>
            <a:endParaRPr sz="2800">
              <a:solidFill>
                <a:schemeClr val="dk1"/>
              </a:solidFill>
              <a:latin typeface="Calibri"/>
              <a:ea typeface="Calibri"/>
              <a:cs typeface="Calibri"/>
              <a:sym typeface="Calibri"/>
            </a:endParaRPr>
          </a:p>
        </p:txBody>
      </p:sp>
      <p:sp>
        <p:nvSpPr>
          <p:cNvPr id="129" name="Google Shape;129;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Naive Bayes, bütün xüsusiyyətlərin əlaqəsiz olduğunu fərz edərək, məlumat nöqtəsinin hansı kateqoriyaya aid olduğunu proqnozlaşdırmaq üçün ehtimaldan istifadə edən təsnifat alqoritmidir.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Naive Bayes</a:t>
            </a:r>
            <a:endParaRPr sz="2800">
              <a:solidFill>
                <a:schemeClr val="dk1"/>
              </a:solidFill>
              <a:latin typeface="Calibri"/>
              <a:ea typeface="Calibri"/>
              <a:cs typeface="Calibri"/>
              <a:sym typeface="Calibri"/>
            </a:endParaRPr>
          </a:p>
        </p:txBody>
      </p:sp>
      <p:sp>
        <p:nvSpPr>
          <p:cNvPr id="135" name="Google Shape;135;p21"/>
          <p:cNvSpPr txBox="1">
            <a:spLocks noGrp="1"/>
          </p:cNvSpPr>
          <p:nvPr>
            <p:ph type="body" idx="1"/>
          </p:nvPr>
        </p:nvSpPr>
        <p:spPr>
          <a:xfrm>
            <a:off x="838200" y="1014153"/>
            <a:ext cx="10515600" cy="516281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800"/>
              <a:buNone/>
            </a:pPr>
            <a:r>
              <a:rPr lang="en-US" dirty="0" err="1"/>
              <a:t>Naiv</a:t>
            </a:r>
            <a:r>
              <a:rPr lang="en-US" dirty="0"/>
              <a:t> Bayes </a:t>
            </a:r>
            <a:r>
              <a:rPr lang="en-US" dirty="0" err="1"/>
              <a:t>alqoritmasının</a:t>
            </a:r>
            <a:r>
              <a:rPr lang="en-US" dirty="0"/>
              <a:t> </a:t>
            </a:r>
            <a:r>
              <a:rPr lang="en-US" dirty="0" err="1"/>
              <a:t>fərziyyələri</a:t>
            </a:r>
            <a:endParaRPr dirty="0"/>
          </a:p>
          <a:p>
            <a:pPr marL="0" lvl="0" indent="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err="1"/>
              <a:t>Xüsusiyyətlərin</a:t>
            </a:r>
            <a:r>
              <a:rPr lang="en-US" dirty="0"/>
              <a:t> </a:t>
            </a:r>
            <a:r>
              <a:rPr lang="en-US" dirty="0" err="1"/>
              <a:t>müstəqilliyi</a:t>
            </a:r>
            <a:r>
              <a:rPr lang="en-US" dirty="0"/>
              <a:t>: Bu o </a:t>
            </a:r>
            <a:r>
              <a:rPr lang="en-US" dirty="0" err="1"/>
              <a:t>deməkdir</a:t>
            </a:r>
            <a:r>
              <a:rPr lang="en-US" dirty="0"/>
              <a:t> ki, </a:t>
            </a:r>
            <a:r>
              <a:rPr lang="en-US" dirty="0" err="1"/>
              <a:t>bir</a:t>
            </a:r>
            <a:r>
              <a:rPr lang="en-US" dirty="0"/>
              <a:t> </a:t>
            </a:r>
            <a:r>
              <a:rPr lang="en-US" dirty="0" err="1"/>
              <a:t>şeyi</a:t>
            </a:r>
            <a:r>
              <a:rPr lang="en-US" dirty="0"/>
              <a:t> </a:t>
            </a:r>
            <a:r>
              <a:rPr lang="en-US" dirty="0" err="1"/>
              <a:t>təsnif</a:t>
            </a:r>
            <a:r>
              <a:rPr lang="en-US" dirty="0"/>
              <a:t> </a:t>
            </a:r>
            <a:r>
              <a:rPr lang="en-US" dirty="0" err="1"/>
              <a:t>etməyə</a:t>
            </a:r>
            <a:r>
              <a:rPr lang="en-US" dirty="0"/>
              <a:t> </a:t>
            </a:r>
            <a:r>
              <a:rPr lang="en-US" dirty="0" err="1"/>
              <a:t>çalışarkən</a:t>
            </a:r>
            <a:r>
              <a:rPr lang="en-US" dirty="0"/>
              <a:t>, </a:t>
            </a:r>
            <a:r>
              <a:rPr lang="en-US" dirty="0" err="1"/>
              <a:t>məlumatdakı</a:t>
            </a:r>
            <a:r>
              <a:rPr lang="en-US" dirty="0"/>
              <a:t> </a:t>
            </a:r>
            <a:r>
              <a:rPr lang="en-US" dirty="0" err="1"/>
              <a:t>hər</a:t>
            </a:r>
            <a:r>
              <a:rPr lang="en-US" dirty="0"/>
              <a:t> </a:t>
            </a:r>
            <a:r>
              <a:rPr lang="en-US" dirty="0" err="1"/>
              <a:t>bir</a:t>
            </a:r>
            <a:r>
              <a:rPr lang="en-US" dirty="0"/>
              <a:t> </a:t>
            </a:r>
            <a:r>
              <a:rPr lang="en-US" dirty="0" err="1"/>
              <a:t>xüsusiyyətin</a:t>
            </a:r>
            <a:r>
              <a:rPr lang="en-US" dirty="0"/>
              <a:t> </a:t>
            </a:r>
            <a:r>
              <a:rPr lang="en-US" dirty="0" err="1"/>
              <a:t>digər</a:t>
            </a:r>
            <a:r>
              <a:rPr lang="en-US" dirty="0"/>
              <a:t> </a:t>
            </a:r>
            <a:r>
              <a:rPr lang="en-US" dirty="0" err="1"/>
              <a:t>xüsusiyyətlərə</a:t>
            </a:r>
            <a:r>
              <a:rPr lang="en-US" dirty="0"/>
              <a:t> </a:t>
            </a:r>
            <a:r>
              <a:rPr lang="en-US" dirty="0" err="1"/>
              <a:t>təsir</a:t>
            </a:r>
            <a:r>
              <a:rPr lang="en-US" dirty="0"/>
              <a:t> </a:t>
            </a:r>
            <a:r>
              <a:rPr lang="en-US" dirty="0" err="1"/>
              <a:t>etmədiyi</a:t>
            </a:r>
            <a:r>
              <a:rPr lang="en-US" dirty="0"/>
              <a:t> </a:t>
            </a:r>
            <a:r>
              <a:rPr lang="en-US" dirty="0" err="1"/>
              <a:t>güman</a:t>
            </a:r>
            <a:r>
              <a:rPr lang="en-US" dirty="0"/>
              <a:t> </a:t>
            </a:r>
            <a:r>
              <a:rPr lang="en-US" dirty="0" err="1"/>
              <a:t>edilir</a:t>
            </a:r>
            <a:r>
              <a:rPr lang="en-US" dirty="0"/>
              <a:t>. </a:t>
            </a:r>
            <a:endParaRPr dirty="0"/>
          </a:p>
          <a:p>
            <a:pPr marL="228600" lvl="0" indent="-228600" algn="l" rtl="0">
              <a:lnSpc>
                <a:spcPct val="90000"/>
              </a:lnSpc>
              <a:spcBef>
                <a:spcPts val="1000"/>
              </a:spcBef>
              <a:spcAft>
                <a:spcPts val="0"/>
              </a:spcAft>
              <a:buClr>
                <a:schemeClr val="dk1"/>
              </a:buClr>
              <a:buSzPts val="2800"/>
              <a:buChar char="•"/>
            </a:pPr>
            <a:r>
              <a:rPr lang="en-US" dirty="0" err="1"/>
              <a:t>Davamlı</a:t>
            </a:r>
            <a:r>
              <a:rPr lang="en-US" dirty="0"/>
              <a:t> </a:t>
            </a:r>
            <a:r>
              <a:rPr lang="en-US" dirty="0" err="1"/>
              <a:t>xüsusiyyətlər</a:t>
            </a:r>
            <a:r>
              <a:rPr lang="en-US" dirty="0"/>
              <a:t> normal </a:t>
            </a:r>
            <a:r>
              <a:rPr lang="en-US" dirty="0" err="1"/>
              <a:t>paylanmışdır</a:t>
            </a:r>
            <a:r>
              <a:rPr lang="en-US" dirty="0"/>
              <a:t>: </a:t>
            </a:r>
            <a:r>
              <a:rPr lang="en-US" dirty="0" err="1"/>
              <a:t>Əgər</a:t>
            </a:r>
            <a:r>
              <a:rPr lang="en-US" dirty="0"/>
              <a:t> </a:t>
            </a:r>
            <a:r>
              <a:rPr lang="en-US" dirty="0" err="1"/>
              <a:t>xüsusiyyət</a:t>
            </a:r>
            <a:r>
              <a:rPr lang="en-US" dirty="0"/>
              <a:t> </a:t>
            </a:r>
            <a:r>
              <a:rPr lang="en-US" dirty="0" err="1"/>
              <a:t>davamlıdırsa</a:t>
            </a:r>
            <a:r>
              <a:rPr lang="en-US" dirty="0"/>
              <a:t>, </a:t>
            </a:r>
            <a:r>
              <a:rPr lang="en-US" dirty="0" err="1"/>
              <a:t>onun</a:t>
            </a:r>
            <a:r>
              <a:rPr lang="en-US" dirty="0"/>
              <a:t> </a:t>
            </a:r>
            <a:r>
              <a:rPr lang="en-US" dirty="0" err="1"/>
              <a:t>hər</a:t>
            </a:r>
            <a:r>
              <a:rPr lang="en-US" dirty="0"/>
              <a:t> </a:t>
            </a:r>
            <a:r>
              <a:rPr lang="en-US" dirty="0" err="1"/>
              <a:t>bir</a:t>
            </a:r>
            <a:r>
              <a:rPr lang="en-US" dirty="0"/>
              <a:t> </a:t>
            </a:r>
            <a:r>
              <a:rPr lang="en-US" dirty="0" err="1"/>
              <a:t>sinif</a:t>
            </a:r>
            <a:r>
              <a:rPr lang="en-US" dirty="0"/>
              <a:t> </a:t>
            </a:r>
            <a:r>
              <a:rPr lang="en-US" dirty="0" err="1"/>
              <a:t>daxilində</a:t>
            </a:r>
            <a:r>
              <a:rPr lang="en-US" dirty="0"/>
              <a:t> normal </a:t>
            </a:r>
            <a:r>
              <a:rPr lang="en-US" dirty="0" err="1"/>
              <a:t>paylandığı</a:t>
            </a:r>
            <a:r>
              <a:rPr lang="en-US" dirty="0"/>
              <a:t> </a:t>
            </a:r>
            <a:r>
              <a:rPr lang="en-US" dirty="0" err="1"/>
              <a:t>güman</a:t>
            </a:r>
            <a:r>
              <a:rPr lang="en-US" dirty="0"/>
              <a:t> </a:t>
            </a:r>
            <a:r>
              <a:rPr lang="en-US" dirty="0" err="1"/>
              <a:t>edilir</a:t>
            </a:r>
            <a:r>
              <a:rPr lang="en-US" dirty="0"/>
              <a:t>. </a:t>
            </a:r>
            <a:endParaRPr dirty="0"/>
          </a:p>
          <a:p>
            <a:pPr marL="228600" lvl="0" indent="-228600" algn="l" rtl="0">
              <a:lnSpc>
                <a:spcPct val="90000"/>
              </a:lnSpc>
              <a:spcBef>
                <a:spcPts val="1000"/>
              </a:spcBef>
              <a:spcAft>
                <a:spcPts val="0"/>
              </a:spcAft>
              <a:buClr>
                <a:schemeClr val="dk1"/>
              </a:buClr>
              <a:buSzPts val="2800"/>
              <a:buChar char="•"/>
            </a:pPr>
            <a:r>
              <a:rPr lang="en-US" dirty="0" err="1"/>
              <a:t>Xüsusiyyətlər</a:t>
            </a:r>
            <a:r>
              <a:rPr lang="en-US" dirty="0"/>
              <a:t> </a:t>
            </a:r>
            <a:r>
              <a:rPr lang="en-US" dirty="0" err="1"/>
              <a:t>eyni</a:t>
            </a:r>
            <a:r>
              <a:rPr lang="en-US" dirty="0"/>
              <a:t> </a:t>
            </a:r>
            <a:r>
              <a:rPr lang="en-US" dirty="0" err="1"/>
              <a:t>dərəcədə</a:t>
            </a:r>
            <a:r>
              <a:rPr lang="en-US" dirty="0"/>
              <a:t> </a:t>
            </a:r>
            <a:r>
              <a:rPr lang="en-US" dirty="0" err="1"/>
              <a:t>vacibdir</a:t>
            </a:r>
            <a:r>
              <a:rPr lang="en-US" dirty="0"/>
              <a:t>: </a:t>
            </a:r>
            <a:r>
              <a:rPr lang="en-US" dirty="0" err="1"/>
              <a:t>Bütün</a:t>
            </a:r>
            <a:r>
              <a:rPr lang="en-US" dirty="0"/>
              <a:t> </a:t>
            </a:r>
            <a:r>
              <a:rPr lang="en-US" dirty="0" err="1"/>
              <a:t>xüsusiyyətlərin</a:t>
            </a:r>
            <a:r>
              <a:rPr lang="en-US" dirty="0"/>
              <a:t> </a:t>
            </a:r>
            <a:r>
              <a:rPr lang="en-US" dirty="0" err="1"/>
              <a:t>sinif</a:t>
            </a:r>
            <a:r>
              <a:rPr lang="en-US" dirty="0"/>
              <a:t> </a:t>
            </a:r>
            <a:r>
              <a:rPr lang="en-US" dirty="0" err="1"/>
              <a:t>etiketinin</a:t>
            </a:r>
            <a:r>
              <a:rPr lang="en-US" dirty="0"/>
              <a:t> </a:t>
            </a:r>
            <a:r>
              <a:rPr lang="en-US" dirty="0" err="1"/>
              <a:t>proqnozlaşdırılmasına</a:t>
            </a:r>
            <a:r>
              <a:rPr lang="en-US" dirty="0"/>
              <a:t> </a:t>
            </a:r>
            <a:r>
              <a:rPr lang="en-US" dirty="0" err="1"/>
              <a:t>bərabər</a:t>
            </a:r>
            <a:r>
              <a:rPr lang="en-US" dirty="0"/>
              <a:t> </a:t>
            </a:r>
            <a:r>
              <a:rPr lang="en-US" dirty="0" err="1"/>
              <a:t>töhfə</a:t>
            </a:r>
            <a:r>
              <a:rPr lang="en-US" dirty="0"/>
              <a:t> </a:t>
            </a:r>
            <a:r>
              <a:rPr lang="en-US" dirty="0" err="1"/>
              <a:t>verdiyi</a:t>
            </a:r>
            <a:r>
              <a:rPr lang="en-US" dirty="0"/>
              <a:t> </a:t>
            </a:r>
            <a:r>
              <a:rPr lang="en-US" dirty="0" err="1"/>
              <a:t>güman</a:t>
            </a:r>
            <a:r>
              <a:rPr lang="en-US" dirty="0"/>
              <a:t> </a:t>
            </a:r>
            <a:r>
              <a:rPr lang="en-US" dirty="0" err="1"/>
              <a:t>edilir</a:t>
            </a:r>
            <a:r>
              <a:rPr lang="en-US" dirty="0"/>
              <a:t>. </a:t>
            </a:r>
            <a:endParaRPr dirty="0"/>
          </a:p>
          <a:p>
            <a:pPr marL="228600" lvl="0" indent="-228600" algn="l" rtl="0">
              <a:lnSpc>
                <a:spcPct val="90000"/>
              </a:lnSpc>
              <a:spcBef>
                <a:spcPts val="1000"/>
              </a:spcBef>
              <a:spcAft>
                <a:spcPts val="0"/>
              </a:spcAft>
              <a:buClr>
                <a:schemeClr val="dk1"/>
              </a:buClr>
              <a:buSzPts val="2800"/>
              <a:buChar char="•"/>
            </a:pPr>
            <a:r>
              <a:rPr lang="en-US" dirty="0" err="1"/>
              <a:t>Məlumat</a:t>
            </a:r>
            <a:r>
              <a:rPr lang="en-US" dirty="0"/>
              <a:t> </a:t>
            </a:r>
            <a:r>
              <a:rPr lang="en-US" dirty="0" err="1"/>
              <a:t>çatışmazlığı</a:t>
            </a:r>
            <a:r>
              <a:rPr lang="en-US" dirty="0"/>
              <a:t> </a:t>
            </a:r>
            <a:r>
              <a:rPr lang="en-US" dirty="0" err="1"/>
              <a:t>yoxdur</a:t>
            </a:r>
            <a:r>
              <a:rPr lang="en-US" dirty="0"/>
              <a:t>: </a:t>
            </a:r>
            <a:r>
              <a:rPr lang="en-US" dirty="0" err="1"/>
              <a:t>Məlumatlarda</a:t>
            </a:r>
            <a:r>
              <a:rPr lang="en-US" dirty="0"/>
              <a:t> </a:t>
            </a:r>
            <a:r>
              <a:rPr lang="en-US" dirty="0" err="1"/>
              <a:t>heç</a:t>
            </a:r>
            <a:r>
              <a:rPr lang="en-US" dirty="0"/>
              <a:t> </a:t>
            </a:r>
            <a:r>
              <a:rPr lang="en-US" dirty="0" err="1"/>
              <a:t>bir</a:t>
            </a:r>
            <a:r>
              <a:rPr lang="en-US" dirty="0"/>
              <a:t> </a:t>
            </a:r>
            <a:r>
              <a:rPr lang="en-US" dirty="0" err="1"/>
              <a:t>çatışmayan</a:t>
            </a:r>
            <a:r>
              <a:rPr lang="en-US" dirty="0"/>
              <a:t> </a:t>
            </a:r>
            <a:r>
              <a:rPr lang="en-US" dirty="0" err="1"/>
              <a:t>dəyər</a:t>
            </a:r>
            <a:r>
              <a:rPr lang="en-US" dirty="0"/>
              <a:t> </a:t>
            </a:r>
            <a:r>
              <a:rPr lang="en-US" dirty="0" err="1"/>
              <a:t>olmamalıdır</a:t>
            </a:r>
            <a:r>
              <a:rPr lang="en-US" dirty="0"/>
              <a:t>.</a:t>
            </a:r>
            <a:endParaRPr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Naive Bayes</a:t>
            </a:r>
            <a:endParaRPr sz="2800">
              <a:solidFill>
                <a:schemeClr val="dk1"/>
              </a:solidFill>
              <a:latin typeface="Calibri"/>
              <a:ea typeface="Calibri"/>
              <a:cs typeface="Calibri"/>
              <a:sym typeface="Calibri"/>
            </a:endParaRPr>
          </a:p>
        </p:txBody>
      </p:sp>
      <p:pic>
        <p:nvPicPr>
          <p:cNvPr id="141" name="Google Shape;141;p22"/>
          <p:cNvPicPr preferRelativeResize="0">
            <a:picLocks noGrp="1"/>
          </p:cNvPicPr>
          <p:nvPr>
            <p:ph type="body" idx="1"/>
          </p:nvPr>
        </p:nvPicPr>
        <p:blipFill rotWithShape="1">
          <a:blip r:embed="rId3">
            <a:alphaModFix/>
          </a:blip>
          <a:srcRect l="7782" t="6073" r="11821" b="12364"/>
          <a:stretch/>
        </p:blipFill>
        <p:spPr>
          <a:xfrm>
            <a:off x="3286990" y="639598"/>
            <a:ext cx="5379721" cy="2728844"/>
          </a:xfrm>
          <a:prstGeom prst="rect">
            <a:avLst/>
          </a:prstGeom>
          <a:noFill/>
          <a:ln>
            <a:noFill/>
          </a:ln>
        </p:spPr>
      </p:pic>
      <p:sp>
        <p:nvSpPr>
          <p:cNvPr id="142" name="Google Shape;142;p22"/>
          <p:cNvSpPr txBox="1"/>
          <p:nvPr/>
        </p:nvSpPr>
        <p:spPr>
          <a:xfrm>
            <a:off x="2793077" y="3665779"/>
            <a:ext cx="7464829" cy="1922314"/>
          </a:xfrm>
          <a:prstGeom prst="rect">
            <a:avLst/>
          </a:prstGeom>
          <a:noFill/>
          <a:ln>
            <a:noFill/>
          </a:ln>
        </p:spPr>
        <p:txBody>
          <a:bodyPr spcFirstLastPara="1" wrap="square" lIns="91425" tIns="45700" rIns="91425" bIns="45700" anchor="t" anchorCtr="0">
            <a:normAutofit fontScale="92500"/>
          </a:bodyPr>
          <a:lstStyle/>
          <a:p>
            <a:pPr marL="0" marR="0" lvl="0" indent="0" algn="l" rtl="0">
              <a:lnSpc>
                <a:spcPct val="90000"/>
              </a:lnSpc>
              <a:spcBef>
                <a:spcPts val="0"/>
              </a:spcBef>
              <a:spcAft>
                <a:spcPts val="0"/>
              </a:spcAft>
              <a:buClr>
                <a:schemeClr val="dk1"/>
              </a:buClr>
              <a:buSzPct val="100000"/>
              <a:buFont typeface="Arial"/>
              <a:buNone/>
            </a:pPr>
            <a:r>
              <a:rPr lang="en-US" sz="2400" dirty="0">
                <a:solidFill>
                  <a:schemeClr val="dk1"/>
                </a:solidFill>
                <a:latin typeface="Calibri"/>
                <a:ea typeface="Calibri"/>
                <a:cs typeface="Calibri"/>
                <a:sym typeface="Calibri"/>
              </a:rPr>
              <a:t>• P(</a:t>
            </a:r>
            <a:r>
              <a:rPr lang="en-US" sz="2400" dirty="0" err="1">
                <a:solidFill>
                  <a:schemeClr val="dk1"/>
                </a:solidFill>
                <a:latin typeface="Calibri"/>
                <a:ea typeface="Calibri"/>
                <a:cs typeface="Calibri"/>
                <a:sym typeface="Calibri"/>
              </a:rPr>
              <a:t>y|X</a:t>
            </a:r>
            <a:r>
              <a:rPr lang="en-US" sz="2400" dirty="0">
                <a:solidFill>
                  <a:schemeClr val="dk1"/>
                </a:solidFill>
                <a:latin typeface="Calibri"/>
                <a:ea typeface="Calibri"/>
                <a:cs typeface="Calibri"/>
                <a:sym typeface="Calibri"/>
              </a:rPr>
              <a:t>): X </a:t>
            </a:r>
            <a:r>
              <a:rPr lang="en-US" sz="2400" dirty="0" err="1">
                <a:solidFill>
                  <a:schemeClr val="dk1"/>
                </a:solidFill>
                <a:latin typeface="Calibri"/>
                <a:ea typeface="Calibri"/>
                <a:cs typeface="Calibri"/>
                <a:sym typeface="Calibri"/>
              </a:rPr>
              <a:t>verildikdə</a:t>
            </a:r>
            <a:r>
              <a:rPr lang="en-US" sz="2400" dirty="0">
                <a:solidFill>
                  <a:schemeClr val="dk1"/>
                </a:solidFill>
                <a:latin typeface="Calibri"/>
                <a:ea typeface="Calibri"/>
                <a:cs typeface="Calibri"/>
                <a:sym typeface="Calibri"/>
              </a:rPr>
              <a:t> </a:t>
            </a:r>
            <a:r>
              <a:rPr lang="en-US" sz="2400" dirty="0" err="1">
                <a:solidFill>
                  <a:schemeClr val="dk1"/>
                </a:solidFill>
                <a:latin typeface="Calibri"/>
                <a:ea typeface="Calibri"/>
                <a:cs typeface="Calibri"/>
                <a:sym typeface="Calibri"/>
              </a:rPr>
              <a:t>sinif</a:t>
            </a:r>
            <a:r>
              <a:rPr lang="en-US" sz="2400" dirty="0">
                <a:solidFill>
                  <a:schemeClr val="dk1"/>
                </a:solidFill>
                <a:latin typeface="Calibri"/>
                <a:ea typeface="Calibri"/>
                <a:cs typeface="Calibri"/>
                <a:sym typeface="Calibri"/>
              </a:rPr>
              <a:t> y-in </a:t>
            </a:r>
            <a:r>
              <a:rPr lang="en-US" sz="2400" dirty="0" err="1">
                <a:solidFill>
                  <a:schemeClr val="dk1"/>
                </a:solidFill>
                <a:latin typeface="Calibri"/>
                <a:ea typeface="Calibri"/>
                <a:cs typeface="Calibri"/>
                <a:sym typeface="Calibri"/>
              </a:rPr>
              <a:t>ehtimallığı</a:t>
            </a:r>
            <a:r>
              <a:rPr lang="en-US" sz="2400" dirty="0">
                <a:solidFill>
                  <a:schemeClr val="dk1"/>
                </a:solidFill>
                <a:latin typeface="Calibri"/>
                <a:ea typeface="Calibri"/>
                <a:cs typeface="Calibri"/>
                <a:sym typeface="Calibri"/>
              </a:rPr>
              <a:t> (</a:t>
            </a:r>
            <a:r>
              <a:rPr lang="en-US" sz="2400" i="1" u="sng" dirty="0">
                <a:solidFill>
                  <a:schemeClr val="dk1"/>
                </a:solidFill>
                <a:latin typeface="Calibri"/>
                <a:ea typeface="Calibri"/>
                <a:cs typeface="Calibri"/>
                <a:sym typeface="Calibri"/>
              </a:rPr>
              <a:t>Posterior probability)</a:t>
            </a:r>
            <a:endParaRPr sz="2400"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ct val="100000"/>
              <a:buFont typeface="Arial"/>
              <a:buNone/>
            </a:pPr>
            <a:r>
              <a:rPr lang="en-US" sz="2400" dirty="0">
                <a:solidFill>
                  <a:schemeClr val="dk1"/>
                </a:solidFill>
                <a:latin typeface="Calibri"/>
                <a:ea typeface="Calibri"/>
                <a:cs typeface="Calibri"/>
                <a:sym typeface="Calibri"/>
              </a:rPr>
              <a:t>• P(</a:t>
            </a:r>
            <a:r>
              <a:rPr lang="en-US" sz="2400" dirty="0" err="1">
                <a:solidFill>
                  <a:schemeClr val="dk1"/>
                </a:solidFill>
                <a:latin typeface="Calibri"/>
                <a:ea typeface="Calibri"/>
                <a:cs typeface="Calibri"/>
                <a:sym typeface="Calibri"/>
              </a:rPr>
              <a:t>X|y</a:t>
            </a:r>
            <a:r>
              <a:rPr lang="en-US" sz="2400" dirty="0">
                <a:solidFill>
                  <a:schemeClr val="dk1"/>
                </a:solidFill>
                <a:latin typeface="Calibri"/>
                <a:ea typeface="Calibri"/>
                <a:cs typeface="Calibri"/>
                <a:sym typeface="Calibri"/>
              </a:rPr>
              <a:t>): X-in </a:t>
            </a:r>
            <a:r>
              <a:rPr lang="en-US" sz="2400" dirty="0" err="1">
                <a:solidFill>
                  <a:schemeClr val="dk1"/>
                </a:solidFill>
                <a:latin typeface="Calibri"/>
                <a:ea typeface="Calibri"/>
                <a:cs typeface="Calibri"/>
                <a:sym typeface="Calibri"/>
              </a:rPr>
              <a:t>sinif</a:t>
            </a:r>
            <a:r>
              <a:rPr lang="en-US" sz="2400" dirty="0">
                <a:solidFill>
                  <a:schemeClr val="dk1"/>
                </a:solidFill>
                <a:latin typeface="Calibri"/>
                <a:ea typeface="Calibri"/>
                <a:cs typeface="Calibri"/>
                <a:sym typeface="Calibri"/>
              </a:rPr>
              <a:t> y </a:t>
            </a:r>
            <a:r>
              <a:rPr lang="en-US" sz="2400" dirty="0" err="1">
                <a:solidFill>
                  <a:schemeClr val="dk1"/>
                </a:solidFill>
                <a:latin typeface="Calibri"/>
                <a:ea typeface="Calibri"/>
                <a:cs typeface="Calibri"/>
                <a:sym typeface="Calibri"/>
              </a:rPr>
              <a:t>verildikdə</a:t>
            </a:r>
            <a:r>
              <a:rPr lang="en-US" sz="2400" dirty="0">
                <a:solidFill>
                  <a:schemeClr val="dk1"/>
                </a:solidFill>
                <a:latin typeface="Calibri"/>
                <a:ea typeface="Calibri"/>
                <a:cs typeface="Calibri"/>
                <a:sym typeface="Calibri"/>
              </a:rPr>
              <a:t> </a:t>
            </a:r>
            <a:r>
              <a:rPr lang="en-US" sz="2400" dirty="0" err="1">
                <a:solidFill>
                  <a:schemeClr val="dk1"/>
                </a:solidFill>
                <a:latin typeface="Calibri"/>
                <a:ea typeface="Calibri"/>
                <a:cs typeface="Calibri"/>
                <a:sym typeface="Calibri"/>
              </a:rPr>
              <a:t>ehtimallığı</a:t>
            </a:r>
            <a:r>
              <a:rPr lang="en-US" sz="2400" dirty="0">
                <a:solidFill>
                  <a:schemeClr val="dk1"/>
                </a:solidFill>
                <a:latin typeface="Calibri"/>
                <a:ea typeface="Calibri"/>
                <a:cs typeface="Calibri"/>
                <a:sym typeface="Calibri"/>
              </a:rPr>
              <a:t> (</a:t>
            </a:r>
            <a:r>
              <a:rPr lang="en-US" sz="2400" i="1" u="sng" dirty="0">
                <a:solidFill>
                  <a:schemeClr val="dk1"/>
                </a:solidFill>
                <a:latin typeface="Calibri"/>
                <a:ea typeface="Calibri"/>
                <a:cs typeface="Calibri"/>
                <a:sym typeface="Calibri"/>
              </a:rPr>
              <a:t>Likelihood</a:t>
            </a:r>
            <a:r>
              <a:rPr lang="en-US" sz="2400" dirty="0">
                <a:solidFill>
                  <a:schemeClr val="dk1"/>
                </a:solidFill>
                <a:latin typeface="Calibri"/>
                <a:ea typeface="Calibri"/>
                <a:cs typeface="Calibri"/>
                <a:sym typeface="Calibri"/>
              </a:rPr>
              <a:t>)</a:t>
            </a:r>
            <a:endParaRPr dirty="0"/>
          </a:p>
          <a:p>
            <a:pPr marL="0" marR="0" lvl="0" indent="0" algn="l" rtl="0">
              <a:lnSpc>
                <a:spcPct val="90000"/>
              </a:lnSpc>
              <a:spcBef>
                <a:spcPts val="1000"/>
              </a:spcBef>
              <a:spcAft>
                <a:spcPts val="0"/>
              </a:spcAft>
              <a:buClr>
                <a:schemeClr val="dk1"/>
              </a:buClr>
              <a:buSzPct val="100000"/>
              <a:buFont typeface="Arial"/>
              <a:buNone/>
            </a:pPr>
            <a:r>
              <a:rPr lang="en-US" sz="2400" dirty="0">
                <a:solidFill>
                  <a:schemeClr val="dk1"/>
                </a:solidFill>
                <a:latin typeface="Calibri"/>
                <a:ea typeface="Calibri"/>
                <a:cs typeface="Calibri"/>
                <a:sym typeface="Calibri"/>
              </a:rPr>
              <a:t>• P(y): </a:t>
            </a:r>
            <a:r>
              <a:rPr lang="en-US" sz="2400" dirty="0" err="1">
                <a:solidFill>
                  <a:schemeClr val="dk1"/>
                </a:solidFill>
                <a:latin typeface="Calibri"/>
                <a:ea typeface="Calibri"/>
                <a:cs typeface="Calibri"/>
                <a:sym typeface="Calibri"/>
              </a:rPr>
              <a:t>sinif</a:t>
            </a:r>
            <a:r>
              <a:rPr lang="en-US" sz="2400" dirty="0">
                <a:solidFill>
                  <a:schemeClr val="dk1"/>
                </a:solidFill>
                <a:latin typeface="Calibri"/>
                <a:ea typeface="Calibri"/>
                <a:cs typeface="Calibri"/>
                <a:sym typeface="Calibri"/>
              </a:rPr>
              <a:t> y-in </a:t>
            </a:r>
            <a:r>
              <a:rPr lang="en-US" sz="2400" dirty="0" err="1">
                <a:solidFill>
                  <a:schemeClr val="dk1"/>
                </a:solidFill>
                <a:latin typeface="Calibri"/>
                <a:ea typeface="Calibri"/>
                <a:cs typeface="Calibri"/>
                <a:sym typeface="Calibri"/>
              </a:rPr>
              <a:t>əvvəlki</a:t>
            </a:r>
            <a:r>
              <a:rPr lang="en-US" sz="2400" dirty="0">
                <a:solidFill>
                  <a:schemeClr val="dk1"/>
                </a:solidFill>
                <a:latin typeface="Calibri"/>
                <a:ea typeface="Calibri"/>
                <a:cs typeface="Calibri"/>
                <a:sym typeface="Calibri"/>
              </a:rPr>
              <a:t> </a:t>
            </a:r>
            <a:r>
              <a:rPr lang="en-US" sz="2400" dirty="0" err="1">
                <a:solidFill>
                  <a:schemeClr val="dk1"/>
                </a:solidFill>
                <a:latin typeface="Calibri"/>
                <a:ea typeface="Calibri"/>
                <a:cs typeface="Calibri"/>
                <a:sym typeface="Calibri"/>
              </a:rPr>
              <a:t>ehtimallığı</a:t>
            </a:r>
            <a:r>
              <a:rPr lang="en-US" sz="2400" dirty="0">
                <a:solidFill>
                  <a:schemeClr val="dk1"/>
                </a:solidFill>
                <a:latin typeface="Calibri"/>
                <a:ea typeface="Calibri"/>
                <a:cs typeface="Calibri"/>
                <a:sym typeface="Calibri"/>
              </a:rPr>
              <a:t>  </a:t>
            </a:r>
            <a:endParaRPr dirty="0"/>
          </a:p>
          <a:p>
            <a:pPr marL="0" marR="0" lvl="0" indent="0" algn="l" rtl="0">
              <a:lnSpc>
                <a:spcPct val="90000"/>
              </a:lnSpc>
              <a:spcBef>
                <a:spcPts val="1000"/>
              </a:spcBef>
              <a:spcAft>
                <a:spcPts val="0"/>
              </a:spcAft>
              <a:buClr>
                <a:schemeClr val="dk1"/>
              </a:buClr>
              <a:buSzPct val="100000"/>
              <a:buFont typeface="Arial"/>
              <a:buNone/>
            </a:pPr>
            <a:r>
              <a:rPr lang="en-US" sz="2400" dirty="0">
                <a:solidFill>
                  <a:schemeClr val="dk1"/>
                </a:solidFill>
                <a:latin typeface="Calibri"/>
                <a:ea typeface="Calibri"/>
                <a:cs typeface="Calibri"/>
                <a:sym typeface="Calibri"/>
              </a:rPr>
              <a:t>• P(X): </a:t>
            </a:r>
            <a:r>
              <a:rPr lang="en-US" sz="2400" dirty="0" err="1">
                <a:solidFill>
                  <a:schemeClr val="dk1"/>
                </a:solidFill>
                <a:latin typeface="Calibri"/>
                <a:ea typeface="Calibri"/>
                <a:cs typeface="Calibri"/>
                <a:sym typeface="Calibri"/>
              </a:rPr>
              <a:t>Marjinal</a:t>
            </a:r>
            <a:r>
              <a:rPr lang="en-US" sz="2400" dirty="0">
                <a:solidFill>
                  <a:schemeClr val="dk1"/>
                </a:solidFill>
                <a:latin typeface="Calibri"/>
                <a:ea typeface="Calibri"/>
                <a:cs typeface="Calibri"/>
                <a:sym typeface="Calibri"/>
              </a:rPr>
              <a:t> </a:t>
            </a:r>
            <a:r>
              <a:rPr lang="en-US" sz="2400" dirty="0" err="1">
                <a:solidFill>
                  <a:schemeClr val="dk1"/>
                </a:solidFill>
                <a:latin typeface="Calibri"/>
                <a:ea typeface="Calibri"/>
                <a:cs typeface="Calibri"/>
                <a:sym typeface="Calibri"/>
              </a:rPr>
              <a:t>ehtimal</a:t>
            </a:r>
            <a:r>
              <a:rPr lang="en-US" sz="2400" dirty="0">
                <a:solidFill>
                  <a:schemeClr val="dk1"/>
                </a:solidFill>
                <a:latin typeface="Calibri"/>
                <a:ea typeface="Calibri"/>
                <a:cs typeface="Calibri"/>
                <a:sym typeface="Calibri"/>
              </a:rPr>
              <a:t> </a:t>
            </a:r>
            <a:r>
              <a:rPr lang="en-US" sz="2400" dirty="0" err="1">
                <a:solidFill>
                  <a:schemeClr val="dk1"/>
                </a:solidFill>
                <a:latin typeface="Calibri"/>
                <a:ea typeface="Calibri"/>
                <a:cs typeface="Calibri"/>
                <a:sym typeface="Calibri"/>
              </a:rPr>
              <a:t>və</a:t>
            </a:r>
            <a:r>
              <a:rPr lang="en-US" sz="2400" dirty="0">
                <a:solidFill>
                  <a:schemeClr val="dk1"/>
                </a:solidFill>
                <a:latin typeface="Calibri"/>
                <a:ea typeface="Calibri"/>
                <a:cs typeface="Calibri"/>
                <a:sym typeface="Calibri"/>
              </a:rPr>
              <a:t> </a:t>
            </a:r>
            <a:r>
              <a:rPr lang="en-US" sz="2400" dirty="0" err="1">
                <a:solidFill>
                  <a:schemeClr val="dk1"/>
                </a:solidFill>
                <a:latin typeface="Calibri"/>
                <a:ea typeface="Calibri"/>
                <a:cs typeface="Calibri"/>
                <a:sym typeface="Calibri"/>
              </a:rPr>
              <a:t>ya</a:t>
            </a:r>
            <a:r>
              <a:rPr lang="en-US" sz="2400" dirty="0">
                <a:solidFill>
                  <a:schemeClr val="dk1"/>
                </a:solidFill>
                <a:latin typeface="Calibri"/>
                <a:ea typeface="Calibri"/>
                <a:cs typeface="Calibri"/>
                <a:sym typeface="Calibri"/>
              </a:rPr>
              <a:t> </a:t>
            </a:r>
            <a:r>
              <a:rPr lang="en-US" sz="2400" dirty="0" err="1">
                <a:solidFill>
                  <a:schemeClr val="dk1"/>
                </a:solidFill>
                <a:latin typeface="Calibri"/>
                <a:ea typeface="Calibri"/>
                <a:cs typeface="Calibri"/>
                <a:sym typeface="Calibri"/>
              </a:rPr>
              <a:t>sübut</a:t>
            </a:r>
            <a:endParaRPr sz="2400" dirty="0">
              <a:solidFill>
                <a:schemeClr val="dk1"/>
              </a:solidFill>
              <a:latin typeface="Calibri"/>
              <a:ea typeface="Calibri"/>
              <a:cs typeface="Calibri"/>
              <a:sym typeface="Calibri"/>
            </a:endParaRPr>
          </a:p>
        </p:txBody>
      </p:sp>
      <p:pic>
        <p:nvPicPr>
          <p:cNvPr id="143" name="Google Shape;143;p22"/>
          <p:cNvPicPr preferRelativeResize="0"/>
          <p:nvPr/>
        </p:nvPicPr>
        <p:blipFill rotWithShape="1">
          <a:blip r:embed="rId4">
            <a:alphaModFix/>
          </a:blip>
          <a:srcRect/>
          <a:stretch/>
        </p:blipFill>
        <p:spPr>
          <a:xfrm>
            <a:off x="3028950" y="5735802"/>
            <a:ext cx="6134100" cy="482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3"/>
          <p:cNvPicPr preferRelativeResize="0">
            <a:picLocks noGrp="1"/>
          </p:cNvPicPr>
          <p:nvPr>
            <p:ph type="body" idx="1"/>
          </p:nvPr>
        </p:nvPicPr>
        <p:blipFill rotWithShape="1">
          <a:blip r:embed="rId3">
            <a:alphaModFix/>
          </a:blip>
          <a:srcRect/>
          <a:stretch/>
        </p:blipFill>
        <p:spPr>
          <a:xfrm>
            <a:off x="1305459" y="936364"/>
            <a:ext cx="4346400" cy="4985400"/>
          </a:xfrm>
          <a:prstGeom prst="rect">
            <a:avLst/>
          </a:prstGeom>
          <a:noFill/>
          <a:ln>
            <a:noFill/>
          </a:ln>
        </p:spPr>
      </p:pic>
      <p:sp>
        <p:nvSpPr>
          <p:cNvPr id="149" name="Google Shape;149;p23"/>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Naive Bayes</a:t>
            </a:r>
            <a:endParaRPr sz="2800">
              <a:solidFill>
                <a:schemeClr val="dk1"/>
              </a:solidFill>
              <a:latin typeface="Calibri"/>
              <a:ea typeface="Calibri"/>
              <a:cs typeface="Calibri"/>
              <a:sym typeface="Calibri"/>
            </a:endParaRPr>
          </a:p>
        </p:txBody>
      </p:sp>
      <p:pic>
        <p:nvPicPr>
          <p:cNvPr id="150" name="Google Shape;150;p23"/>
          <p:cNvPicPr preferRelativeResize="0"/>
          <p:nvPr/>
        </p:nvPicPr>
        <p:blipFill rotWithShape="1">
          <a:blip r:embed="rId4">
            <a:alphaModFix/>
          </a:blip>
          <a:srcRect t="1332"/>
          <a:stretch/>
        </p:blipFill>
        <p:spPr>
          <a:xfrm>
            <a:off x="6508301" y="936364"/>
            <a:ext cx="4226614" cy="4985272"/>
          </a:xfrm>
          <a:prstGeom prst="rect">
            <a:avLst/>
          </a:prstGeom>
          <a:noFill/>
          <a:ln>
            <a:noFill/>
          </a:ln>
        </p:spPr>
      </p:pic>
      <p:sp>
        <p:nvSpPr>
          <p:cNvPr id="151" name="Google Shape;151;p23"/>
          <p:cNvSpPr txBox="1"/>
          <p:nvPr/>
        </p:nvSpPr>
        <p:spPr>
          <a:xfrm>
            <a:off x="7092750" y="2019900"/>
            <a:ext cx="1125600" cy="78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chemeClr val="accent6"/>
                </a:solidFill>
                <a:highlight>
                  <a:schemeClr val="lt1"/>
                </a:highlight>
                <a:latin typeface="Calibri"/>
                <a:ea typeface="Calibri"/>
                <a:cs typeface="Calibri"/>
                <a:sym typeface="Calibri"/>
              </a:rPr>
              <a:t>9    5  </a:t>
            </a:r>
            <a:endParaRPr b="1">
              <a:solidFill>
                <a:schemeClr val="accent6"/>
              </a:solidFill>
              <a:highlight>
                <a:schemeClr val="lt1"/>
              </a:highlight>
              <a:latin typeface="Calibri"/>
              <a:ea typeface="Calibri"/>
              <a:cs typeface="Calibri"/>
              <a:sym typeface="Calibri"/>
            </a:endParaRPr>
          </a:p>
          <a:p>
            <a:pPr marL="0" lvl="0" indent="0" algn="l" rtl="0">
              <a:spcBef>
                <a:spcPts val="0"/>
              </a:spcBef>
              <a:spcAft>
                <a:spcPts val="0"/>
              </a:spcAft>
              <a:buNone/>
            </a:pPr>
            <a:endParaRPr b="1">
              <a:solidFill>
                <a:schemeClr val="accent6"/>
              </a:solidFill>
              <a:highlight>
                <a:schemeClr val="lt1"/>
              </a:highlight>
              <a:latin typeface="Calibri"/>
              <a:ea typeface="Calibri"/>
              <a:cs typeface="Calibri"/>
              <a:sym typeface="Calibri"/>
            </a:endParaRPr>
          </a:p>
        </p:txBody>
      </p:sp>
      <p:sp>
        <p:nvSpPr>
          <p:cNvPr id="152" name="Google Shape;152;p23"/>
          <p:cNvSpPr txBox="1"/>
          <p:nvPr/>
        </p:nvSpPr>
        <p:spPr>
          <a:xfrm>
            <a:off x="7486250" y="1340700"/>
            <a:ext cx="1277100" cy="1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a:solidFill>
                  <a:schemeClr val="accent6"/>
                </a:solidFill>
                <a:highlight>
                  <a:schemeClr val="lt1"/>
                </a:highlight>
                <a:latin typeface="Calibri"/>
                <a:ea typeface="Calibri"/>
                <a:cs typeface="Calibri"/>
                <a:sym typeface="Calibri"/>
              </a:rPr>
              <a:t>   3/9    2/5</a:t>
            </a:r>
            <a:endParaRPr sz="1200" b="1" dirty="0">
              <a:solidFill>
                <a:schemeClr val="accent6"/>
              </a:solidFill>
              <a:highlight>
                <a:schemeClr val="lt1"/>
              </a:highlight>
              <a:latin typeface="Calibri"/>
              <a:ea typeface="Calibri"/>
              <a:cs typeface="Calibri"/>
              <a:sym typeface="Calibri"/>
            </a:endParaRPr>
          </a:p>
        </p:txBody>
      </p:sp>
      <p:sp>
        <p:nvSpPr>
          <p:cNvPr id="153" name="Google Shape;153;p23"/>
          <p:cNvSpPr txBox="1"/>
          <p:nvPr/>
        </p:nvSpPr>
        <p:spPr>
          <a:xfrm>
            <a:off x="7486250" y="155700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b="1">
                <a:solidFill>
                  <a:schemeClr val="accent6"/>
                </a:solidFill>
                <a:highlight>
                  <a:schemeClr val="lt1"/>
                </a:highlight>
                <a:latin typeface="Calibri"/>
                <a:ea typeface="Calibri"/>
                <a:cs typeface="Calibri"/>
                <a:sym typeface="Calibri"/>
              </a:rPr>
              <a:t>   4/9    0/5</a:t>
            </a:r>
            <a:endParaRPr sz="1200" b="1">
              <a:solidFill>
                <a:schemeClr val="accent6"/>
              </a:solidFill>
              <a:highlight>
                <a:schemeClr val="lt1"/>
              </a:highlight>
              <a:latin typeface="Calibri"/>
              <a:ea typeface="Calibri"/>
              <a:cs typeface="Calibri"/>
              <a:sym typeface="Calibri"/>
            </a:endParaRPr>
          </a:p>
        </p:txBody>
      </p:sp>
      <p:cxnSp>
        <p:nvCxnSpPr>
          <p:cNvPr id="154" name="Google Shape;154;p23"/>
          <p:cNvCxnSpPr/>
          <p:nvPr/>
        </p:nvCxnSpPr>
        <p:spPr>
          <a:xfrm>
            <a:off x="7366950" y="2113775"/>
            <a:ext cx="0" cy="245400"/>
          </a:xfrm>
          <a:prstGeom prst="straightConnector1">
            <a:avLst/>
          </a:prstGeom>
          <a:noFill/>
          <a:ln w="9525" cap="flat" cmpd="sng">
            <a:solidFill>
              <a:schemeClr val="dk2"/>
            </a:solidFill>
            <a:prstDash val="solid"/>
            <a:round/>
            <a:headEnd type="none" w="med" len="med"/>
            <a:tailEnd type="none" w="med" len="med"/>
          </a:ln>
        </p:spPr>
      </p:cxnSp>
      <p:sp>
        <p:nvSpPr>
          <p:cNvPr id="155" name="Google Shape;155;p23"/>
          <p:cNvSpPr txBox="1"/>
          <p:nvPr/>
        </p:nvSpPr>
        <p:spPr>
          <a:xfrm>
            <a:off x="7486238" y="1795575"/>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b="1">
                <a:solidFill>
                  <a:schemeClr val="accent6"/>
                </a:solidFill>
                <a:highlight>
                  <a:schemeClr val="lt1"/>
                </a:highlight>
                <a:latin typeface="Calibri"/>
                <a:ea typeface="Calibri"/>
                <a:cs typeface="Calibri"/>
                <a:sym typeface="Calibri"/>
              </a:rPr>
              <a:t>   3/9    2/5</a:t>
            </a:r>
            <a:endParaRPr sz="1200" b="1">
              <a:solidFill>
                <a:schemeClr val="accent6"/>
              </a:solidFill>
              <a:highlight>
                <a:schemeClr val="lt1"/>
              </a:highlight>
              <a:latin typeface="Calibri"/>
              <a:ea typeface="Calibri"/>
              <a:cs typeface="Calibri"/>
              <a:sym typeface="Calibri"/>
            </a:endParaRPr>
          </a:p>
        </p:txBody>
      </p:sp>
      <p:sp>
        <p:nvSpPr>
          <p:cNvPr id="156" name="Google Shape;156;p23"/>
          <p:cNvSpPr txBox="1"/>
          <p:nvPr/>
        </p:nvSpPr>
        <p:spPr>
          <a:xfrm>
            <a:off x="7092738" y="1795575"/>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solidFill>
                  <a:schemeClr val="accent6"/>
                </a:solidFill>
                <a:highlight>
                  <a:schemeClr val="lt1"/>
                </a:highlight>
                <a:latin typeface="Calibri"/>
                <a:ea typeface="Calibri"/>
                <a:cs typeface="Calibri"/>
                <a:sym typeface="Calibri"/>
              </a:rPr>
              <a:t>2    3  </a:t>
            </a:r>
            <a:endParaRPr b="1">
              <a:solidFill>
                <a:schemeClr val="accent6"/>
              </a:solidFill>
              <a:highlight>
                <a:schemeClr val="lt1"/>
              </a:highlight>
              <a:latin typeface="Calibri"/>
              <a:ea typeface="Calibri"/>
              <a:cs typeface="Calibri"/>
              <a:sym typeface="Calibri"/>
            </a:endParaRPr>
          </a:p>
          <a:p>
            <a:pPr marL="0" lvl="0" indent="0" algn="l" rtl="0">
              <a:spcBef>
                <a:spcPts val="0"/>
              </a:spcBef>
              <a:spcAft>
                <a:spcPts val="0"/>
              </a:spcAft>
              <a:buNone/>
            </a:pPr>
            <a:endParaRPr b="1">
              <a:solidFill>
                <a:schemeClr val="accent6"/>
              </a:solidFill>
              <a:highlight>
                <a:schemeClr val="lt1"/>
              </a:highlight>
              <a:latin typeface="Calibri"/>
              <a:ea typeface="Calibri"/>
              <a:cs typeface="Calibri"/>
              <a:sym typeface="Calibri"/>
            </a:endParaRPr>
          </a:p>
        </p:txBody>
      </p:sp>
      <p:cxnSp>
        <p:nvCxnSpPr>
          <p:cNvPr id="157" name="Google Shape;157;p23"/>
          <p:cNvCxnSpPr/>
          <p:nvPr/>
        </p:nvCxnSpPr>
        <p:spPr>
          <a:xfrm>
            <a:off x="7366550" y="1869025"/>
            <a:ext cx="0" cy="244500"/>
          </a:xfrm>
          <a:prstGeom prst="straightConnector1">
            <a:avLst/>
          </a:prstGeom>
          <a:noFill/>
          <a:ln w="9525" cap="flat" cmpd="sng">
            <a:solidFill>
              <a:schemeClr val="dk1"/>
            </a:solidFill>
            <a:prstDash val="solid"/>
            <a:round/>
            <a:headEnd type="none" w="med" len="med"/>
            <a:tailEnd type="none" w="med" len="med"/>
          </a:ln>
        </p:spPr>
      </p:cxnSp>
      <p:cxnSp>
        <p:nvCxnSpPr>
          <p:cNvPr id="158" name="Google Shape;158;p23"/>
          <p:cNvCxnSpPr/>
          <p:nvPr/>
        </p:nvCxnSpPr>
        <p:spPr>
          <a:xfrm>
            <a:off x="7956600" y="1397000"/>
            <a:ext cx="0" cy="716400"/>
          </a:xfrm>
          <a:prstGeom prst="straightConnector1">
            <a:avLst/>
          </a:prstGeom>
          <a:noFill/>
          <a:ln w="9525" cap="flat" cmpd="sng">
            <a:solidFill>
              <a:schemeClr val="dk2"/>
            </a:solidFill>
            <a:prstDash val="solid"/>
            <a:round/>
            <a:headEnd type="none" w="med" len="med"/>
            <a:tailEnd type="none" w="med" len="med"/>
          </a:ln>
        </p:spPr>
      </p:cxnSp>
      <p:sp>
        <p:nvSpPr>
          <p:cNvPr id="3" name="Google Shape;152;p23">
            <a:extLst>
              <a:ext uri="{FF2B5EF4-FFF2-40B4-BE49-F238E27FC236}">
                <a16:creationId xmlns:a16="http://schemas.microsoft.com/office/drawing/2014/main" id="{38E44694-B29B-A889-9B01-76032EAF6A67}"/>
              </a:ext>
            </a:extLst>
          </p:cNvPr>
          <p:cNvSpPr txBox="1"/>
          <p:nvPr/>
        </p:nvSpPr>
        <p:spPr>
          <a:xfrm>
            <a:off x="7950988" y="1769529"/>
            <a:ext cx="229220" cy="40714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a:solidFill>
                  <a:schemeClr val="accent6"/>
                </a:solidFill>
                <a:highlight>
                  <a:schemeClr val="lt1"/>
                </a:highlight>
                <a:latin typeface="Calibri"/>
                <a:ea typeface="Calibri"/>
                <a:cs typeface="Calibri"/>
                <a:sym typeface="Calibri"/>
              </a:rPr>
              <a:t>3 </a:t>
            </a:r>
            <a:endParaRPr sz="1200" b="1" dirty="0">
              <a:solidFill>
                <a:schemeClr val="accent6"/>
              </a:solidFill>
              <a:highlight>
                <a:schemeClr val="lt1"/>
              </a:highlight>
              <a:latin typeface="Calibri"/>
              <a:ea typeface="Calibri"/>
              <a:cs typeface="Calibri"/>
              <a:sym typeface="Calibri"/>
            </a:endParaRPr>
          </a:p>
        </p:txBody>
      </p:sp>
      <p:sp>
        <p:nvSpPr>
          <p:cNvPr id="5" name="Google Shape;152;p23">
            <a:extLst>
              <a:ext uri="{FF2B5EF4-FFF2-40B4-BE49-F238E27FC236}">
                <a16:creationId xmlns:a16="http://schemas.microsoft.com/office/drawing/2014/main" id="{E481C61A-2AAC-F2EB-7051-515B53277A77}"/>
              </a:ext>
            </a:extLst>
          </p:cNvPr>
          <p:cNvSpPr txBox="1"/>
          <p:nvPr/>
        </p:nvSpPr>
        <p:spPr>
          <a:xfrm>
            <a:off x="7590415" y="1791785"/>
            <a:ext cx="250797" cy="32998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a:solidFill>
                  <a:schemeClr val="accent6"/>
                </a:solidFill>
                <a:highlight>
                  <a:schemeClr val="lt1"/>
                </a:highlight>
                <a:latin typeface="Calibri"/>
                <a:ea typeface="Calibri"/>
                <a:cs typeface="Calibri"/>
                <a:sym typeface="Calibri"/>
              </a:rPr>
              <a:t>2</a:t>
            </a:r>
            <a:endParaRPr sz="1200" b="1" dirty="0">
              <a:solidFill>
                <a:schemeClr val="accent6"/>
              </a:solidFill>
              <a:highlight>
                <a:schemeClr val="lt1"/>
              </a:highlight>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4"/>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Naive Bayes</a:t>
            </a:r>
            <a:endParaRPr sz="2800">
              <a:solidFill>
                <a:schemeClr val="dk1"/>
              </a:solidFill>
              <a:latin typeface="Calibri"/>
              <a:ea typeface="Calibri"/>
              <a:cs typeface="Calibri"/>
              <a:sym typeface="Calibri"/>
            </a:endParaRPr>
          </a:p>
        </p:txBody>
      </p:sp>
      <p:sp>
        <p:nvSpPr>
          <p:cNvPr id="164" name="Google Shape;164;p24"/>
          <p:cNvSpPr txBox="1">
            <a:spLocks noGrp="1"/>
          </p:cNvSpPr>
          <p:nvPr>
            <p:ph type="body" idx="1"/>
          </p:nvPr>
        </p:nvSpPr>
        <p:spPr>
          <a:xfrm>
            <a:off x="5752406" y="761596"/>
            <a:ext cx="5950527" cy="573064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a:t>Sinif ehtimalları:</a:t>
            </a:r>
            <a:endParaRPr/>
          </a:p>
          <a:p>
            <a:pPr marL="0" lvl="0" indent="0" algn="l" rtl="0">
              <a:lnSpc>
                <a:spcPct val="90000"/>
              </a:lnSpc>
              <a:spcBef>
                <a:spcPts val="1000"/>
              </a:spcBef>
              <a:spcAft>
                <a:spcPts val="0"/>
              </a:spcAft>
              <a:buClr>
                <a:schemeClr val="dk1"/>
              </a:buClr>
              <a:buSzPts val="2400"/>
              <a:buNone/>
            </a:pPr>
            <a:endParaRPr sz="2400"/>
          </a:p>
          <a:p>
            <a:pPr marL="0" lvl="0" indent="0" algn="l" rtl="0">
              <a:lnSpc>
                <a:spcPct val="90000"/>
              </a:lnSpc>
              <a:spcBef>
                <a:spcPts val="1000"/>
              </a:spcBef>
              <a:spcAft>
                <a:spcPts val="0"/>
              </a:spcAft>
              <a:buClr>
                <a:schemeClr val="dk1"/>
              </a:buClr>
              <a:buSzPts val="2400"/>
              <a:buNone/>
            </a:pPr>
            <a:r>
              <a:rPr lang="en-US" sz="2400"/>
              <a:t>Posterior ehtimallar</a:t>
            </a:r>
            <a:endParaRPr sz="2400"/>
          </a:p>
          <a:p>
            <a:pPr marL="228600" lvl="0" indent="-228600" algn="l" rtl="0">
              <a:lnSpc>
                <a:spcPct val="90000"/>
              </a:lnSpc>
              <a:spcBef>
                <a:spcPts val="1000"/>
              </a:spcBef>
              <a:spcAft>
                <a:spcPts val="0"/>
              </a:spcAft>
              <a:buClr>
                <a:schemeClr val="dk1"/>
              </a:buClr>
              <a:buSzPts val="2400"/>
              <a:buChar char="•"/>
            </a:pPr>
            <a:r>
              <a:rPr lang="en-US" sz="2400"/>
              <a:t>Sinif ”Yes”:</a:t>
            </a:r>
            <a:endParaRPr/>
          </a:p>
          <a:p>
            <a:pPr marL="0" lvl="0" indent="0" algn="l" rtl="0">
              <a:lnSpc>
                <a:spcPct val="90000"/>
              </a:lnSpc>
              <a:spcBef>
                <a:spcPts val="1000"/>
              </a:spcBef>
              <a:spcAft>
                <a:spcPts val="0"/>
              </a:spcAft>
              <a:buClr>
                <a:schemeClr val="dk1"/>
              </a:buClr>
              <a:buSzPts val="2400"/>
              <a:buNone/>
            </a:pPr>
            <a:endParaRPr sz="2400"/>
          </a:p>
          <a:p>
            <a:pPr marL="228600" lvl="0" indent="-228600" algn="l" rtl="0">
              <a:lnSpc>
                <a:spcPct val="90000"/>
              </a:lnSpc>
              <a:spcBef>
                <a:spcPts val="1000"/>
              </a:spcBef>
              <a:spcAft>
                <a:spcPts val="0"/>
              </a:spcAft>
              <a:buClr>
                <a:schemeClr val="dk1"/>
              </a:buClr>
              <a:buSzPts val="2400"/>
              <a:buChar char="•"/>
            </a:pPr>
            <a:r>
              <a:rPr lang="en-US" sz="2400"/>
              <a:t>Sinif “No”:</a:t>
            </a:r>
            <a:endParaRPr/>
          </a:p>
          <a:p>
            <a:pPr marL="228600" lvl="0" indent="-5080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r>
              <a:rPr lang="en-US"/>
              <a:t>Ehtimalları normallaşdırmaq:</a:t>
            </a: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r>
              <a:rPr lang="en-US"/>
              <a:t>Final proqnoz:</a:t>
            </a:r>
            <a:endParaRPr/>
          </a:p>
        </p:txBody>
      </p:sp>
      <p:pic>
        <p:nvPicPr>
          <p:cNvPr id="165" name="Google Shape;165;p24"/>
          <p:cNvPicPr preferRelativeResize="0"/>
          <p:nvPr/>
        </p:nvPicPr>
        <p:blipFill rotWithShape="1">
          <a:blip r:embed="rId3">
            <a:alphaModFix/>
          </a:blip>
          <a:srcRect/>
          <a:stretch/>
        </p:blipFill>
        <p:spPr>
          <a:xfrm>
            <a:off x="332508" y="2255954"/>
            <a:ext cx="4646815" cy="3078754"/>
          </a:xfrm>
          <a:prstGeom prst="rect">
            <a:avLst/>
          </a:prstGeom>
          <a:noFill/>
          <a:ln>
            <a:noFill/>
          </a:ln>
        </p:spPr>
      </p:pic>
      <p:pic>
        <p:nvPicPr>
          <p:cNvPr id="166" name="Google Shape;166;p24"/>
          <p:cNvPicPr preferRelativeResize="0"/>
          <p:nvPr/>
        </p:nvPicPr>
        <p:blipFill rotWithShape="1">
          <a:blip r:embed="rId4">
            <a:alphaModFix/>
          </a:blip>
          <a:srcRect/>
          <a:stretch/>
        </p:blipFill>
        <p:spPr>
          <a:xfrm>
            <a:off x="7610577" y="2118196"/>
            <a:ext cx="2696507" cy="639849"/>
          </a:xfrm>
          <a:prstGeom prst="rect">
            <a:avLst/>
          </a:prstGeom>
          <a:noFill/>
          <a:ln>
            <a:noFill/>
          </a:ln>
        </p:spPr>
      </p:pic>
      <p:pic>
        <p:nvPicPr>
          <p:cNvPr id="167" name="Google Shape;167;p24"/>
          <p:cNvPicPr preferRelativeResize="0"/>
          <p:nvPr/>
        </p:nvPicPr>
        <p:blipFill rotWithShape="1">
          <a:blip r:embed="rId5">
            <a:alphaModFix/>
          </a:blip>
          <a:srcRect/>
          <a:stretch/>
        </p:blipFill>
        <p:spPr>
          <a:xfrm>
            <a:off x="7610576" y="2937265"/>
            <a:ext cx="2696507" cy="671794"/>
          </a:xfrm>
          <a:prstGeom prst="rect">
            <a:avLst/>
          </a:prstGeom>
          <a:noFill/>
          <a:ln>
            <a:noFill/>
          </a:ln>
        </p:spPr>
      </p:pic>
      <p:pic>
        <p:nvPicPr>
          <p:cNvPr id="168" name="Google Shape;168;p24"/>
          <p:cNvPicPr preferRelativeResize="0"/>
          <p:nvPr/>
        </p:nvPicPr>
        <p:blipFill rotWithShape="1">
          <a:blip r:embed="rId6">
            <a:alphaModFix/>
          </a:blip>
          <a:srcRect/>
          <a:stretch/>
        </p:blipFill>
        <p:spPr>
          <a:xfrm>
            <a:off x="7999752" y="854570"/>
            <a:ext cx="1077746" cy="580325"/>
          </a:xfrm>
          <a:prstGeom prst="rect">
            <a:avLst/>
          </a:prstGeom>
          <a:noFill/>
          <a:ln>
            <a:noFill/>
          </a:ln>
        </p:spPr>
      </p:pic>
      <p:pic>
        <p:nvPicPr>
          <p:cNvPr id="169" name="Google Shape;169;p24"/>
          <p:cNvPicPr preferRelativeResize="0"/>
          <p:nvPr/>
        </p:nvPicPr>
        <p:blipFill rotWithShape="1">
          <a:blip r:embed="rId7">
            <a:alphaModFix/>
          </a:blip>
          <a:srcRect/>
          <a:stretch/>
        </p:blipFill>
        <p:spPr>
          <a:xfrm>
            <a:off x="7999752" y="4478544"/>
            <a:ext cx="2994036" cy="673871"/>
          </a:xfrm>
          <a:prstGeom prst="rect">
            <a:avLst/>
          </a:prstGeom>
          <a:noFill/>
          <a:ln>
            <a:noFill/>
          </a:ln>
        </p:spPr>
      </p:pic>
      <p:pic>
        <p:nvPicPr>
          <p:cNvPr id="170" name="Google Shape;170;p24"/>
          <p:cNvPicPr preferRelativeResize="0"/>
          <p:nvPr/>
        </p:nvPicPr>
        <p:blipFill rotWithShape="1">
          <a:blip r:embed="rId8">
            <a:alphaModFix/>
          </a:blip>
          <a:srcRect/>
          <a:stretch/>
        </p:blipFill>
        <p:spPr>
          <a:xfrm>
            <a:off x="8004722" y="5666494"/>
            <a:ext cx="3017330" cy="673871"/>
          </a:xfrm>
          <a:prstGeom prst="rect">
            <a:avLst/>
          </a:prstGeom>
          <a:noFill/>
          <a:ln>
            <a:noFill/>
          </a:ln>
        </p:spPr>
      </p:pic>
      <p:sp>
        <p:nvSpPr>
          <p:cNvPr id="171" name="Google Shape;171;p24"/>
          <p:cNvSpPr txBox="1"/>
          <p:nvPr/>
        </p:nvSpPr>
        <p:spPr>
          <a:xfrm>
            <a:off x="2562250" y="2860125"/>
            <a:ext cx="854400" cy="53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600">
                <a:solidFill>
                  <a:schemeClr val="lt1"/>
                </a:solidFill>
                <a:highlight>
                  <a:schemeClr val="dk1"/>
                </a:highlight>
                <a:latin typeface="Calibri"/>
                <a:ea typeface="Calibri"/>
                <a:cs typeface="Calibri"/>
                <a:sym typeface="Calibri"/>
              </a:rPr>
              <a:t>3/9</a:t>
            </a:r>
            <a:endParaRPr sz="2600">
              <a:solidFill>
                <a:schemeClr val="lt1"/>
              </a:solidFill>
              <a:highlight>
                <a:schemeClr val="dk1"/>
              </a:highlight>
              <a:latin typeface="Calibri"/>
              <a:ea typeface="Calibri"/>
              <a:cs typeface="Calibri"/>
              <a:sym typeface="Calibri"/>
            </a:endParaRPr>
          </a:p>
        </p:txBody>
      </p:sp>
      <p:sp>
        <p:nvSpPr>
          <p:cNvPr id="172" name="Google Shape;172;p24"/>
          <p:cNvSpPr txBox="1"/>
          <p:nvPr/>
        </p:nvSpPr>
        <p:spPr>
          <a:xfrm>
            <a:off x="3991225" y="2860125"/>
            <a:ext cx="854400" cy="53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lt1"/>
                </a:solidFill>
                <a:highlight>
                  <a:schemeClr val="dk1"/>
                </a:highlight>
                <a:latin typeface="Calibri"/>
                <a:ea typeface="Calibri"/>
                <a:cs typeface="Calibri"/>
                <a:sym typeface="Calibri"/>
              </a:rPr>
              <a:t>2/5</a:t>
            </a:r>
            <a:endParaRPr sz="2400">
              <a:solidFill>
                <a:schemeClr val="lt1"/>
              </a:solidFill>
              <a:highlight>
                <a:schemeClr val="dk1"/>
              </a:highlight>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5"/>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Naive Bayes</a:t>
            </a:r>
            <a:endParaRPr sz="2800">
              <a:solidFill>
                <a:schemeClr val="dk1"/>
              </a:solidFill>
              <a:latin typeface="Calibri"/>
              <a:ea typeface="Calibri"/>
              <a:cs typeface="Calibri"/>
              <a:sym typeface="Calibri"/>
            </a:endParaRPr>
          </a:p>
        </p:txBody>
      </p:sp>
      <p:sp>
        <p:nvSpPr>
          <p:cNvPr id="178" name="Google Shape;178;p25"/>
          <p:cNvSpPr txBox="1">
            <a:spLocks noGrp="1"/>
          </p:cNvSpPr>
          <p:nvPr>
            <p:ph type="body" idx="1"/>
          </p:nvPr>
        </p:nvSpPr>
        <p:spPr>
          <a:xfrm>
            <a:off x="838200" y="1338350"/>
            <a:ext cx="10515600" cy="510462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Numerik dəyişənlər üçün Naive Bayes (Gaussian Naive Bayes):</a:t>
            </a:r>
            <a:endParaRPr/>
          </a:p>
        </p:txBody>
      </p:sp>
      <p:pic>
        <p:nvPicPr>
          <p:cNvPr id="179" name="Google Shape;179;p25"/>
          <p:cNvPicPr preferRelativeResize="0"/>
          <p:nvPr/>
        </p:nvPicPr>
        <p:blipFill rotWithShape="1">
          <a:blip r:embed="rId3">
            <a:alphaModFix/>
          </a:blip>
          <a:srcRect/>
          <a:stretch/>
        </p:blipFill>
        <p:spPr>
          <a:xfrm>
            <a:off x="3310472" y="2090510"/>
            <a:ext cx="5571055" cy="1478403"/>
          </a:xfrm>
          <a:prstGeom prst="rect">
            <a:avLst/>
          </a:prstGeom>
          <a:noFill/>
          <a:ln>
            <a:noFill/>
          </a:ln>
        </p:spPr>
      </p:pic>
      <p:pic>
        <p:nvPicPr>
          <p:cNvPr id="180" name="Google Shape;180;p25"/>
          <p:cNvPicPr preferRelativeResize="0"/>
          <p:nvPr/>
        </p:nvPicPr>
        <p:blipFill rotWithShape="1">
          <a:blip r:embed="rId4">
            <a:alphaModFix/>
          </a:blip>
          <a:srcRect/>
          <a:stretch/>
        </p:blipFill>
        <p:spPr>
          <a:xfrm>
            <a:off x="4164676" y="4118035"/>
            <a:ext cx="3724102" cy="63299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6"/>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Support Vector Machines (SVM) </a:t>
            </a:r>
            <a:endParaRPr sz="2800">
              <a:solidFill>
                <a:schemeClr val="dk1"/>
              </a:solidFill>
              <a:latin typeface="Calibri"/>
              <a:ea typeface="Calibri"/>
              <a:cs typeface="Calibri"/>
              <a:sym typeface="Calibri"/>
            </a:endParaRPr>
          </a:p>
        </p:txBody>
      </p:sp>
      <p:pic>
        <p:nvPicPr>
          <p:cNvPr id="186" name="Google Shape;186;p26"/>
          <p:cNvPicPr preferRelativeResize="0">
            <a:picLocks noGrp="1"/>
          </p:cNvPicPr>
          <p:nvPr>
            <p:ph type="body" idx="1"/>
          </p:nvPr>
        </p:nvPicPr>
        <p:blipFill rotWithShape="1">
          <a:blip r:embed="rId3">
            <a:alphaModFix/>
          </a:blip>
          <a:srcRect/>
          <a:stretch/>
        </p:blipFill>
        <p:spPr>
          <a:xfrm>
            <a:off x="2495564" y="1628782"/>
            <a:ext cx="7200872" cy="360043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7"/>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Support Vector Machines (SVM) </a:t>
            </a:r>
            <a:endParaRPr sz="2800">
              <a:solidFill>
                <a:schemeClr val="dk1"/>
              </a:solidFill>
              <a:latin typeface="Calibri"/>
              <a:ea typeface="Calibri"/>
              <a:cs typeface="Calibri"/>
              <a:sym typeface="Calibri"/>
            </a:endParaRPr>
          </a:p>
        </p:txBody>
      </p:sp>
      <p:pic>
        <p:nvPicPr>
          <p:cNvPr id="192" name="Google Shape;192;p27"/>
          <p:cNvPicPr preferRelativeResize="0"/>
          <p:nvPr/>
        </p:nvPicPr>
        <p:blipFill rotWithShape="1">
          <a:blip r:embed="rId3">
            <a:alphaModFix/>
          </a:blip>
          <a:srcRect/>
          <a:stretch/>
        </p:blipFill>
        <p:spPr>
          <a:xfrm>
            <a:off x="2495564" y="1628782"/>
            <a:ext cx="7200871" cy="360043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8"/>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Support Vector Machines (SVM) </a:t>
            </a:r>
            <a:endParaRPr sz="2800">
              <a:solidFill>
                <a:schemeClr val="dk1"/>
              </a:solidFill>
              <a:latin typeface="Calibri"/>
              <a:ea typeface="Calibri"/>
              <a:cs typeface="Calibri"/>
              <a:sym typeface="Calibri"/>
            </a:endParaRPr>
          </a:p>
        </p:txBody>
      </p:sp>
      <p:pic>
        <p:nvPicPr>
          <p:cNvPr id="198" name="Google Shape;198;p28"/>
          <p:cNvPicPr preferRelativeResize="0"/>
          <p:nvPr/>
        </p:nvPicPr>
        <p:blipFill rotWithShape="1">
          <a:blip r:embed="rId3">
            <a:alphaModFix/>
          </a:blip>
          <a:srcRect/>
          <a:stretch/>
        </p:blipFill>
        <p:spPr>
          <a:xfrm>
            <a:off x="2495564" y="1628782"/>
            <a:ext cx="7200872" cy="360043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9"/>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Support Vector Machines (SVM) </a:t>
            </a:r>
            <a:endParaRPr sz="2800">
              <a:solidFill>
                <a:schemeClr val="dk1"/>
              </a:solidFill>
              <a:latin typeface="Calibri"/>
              <a:ea typeface="Calibri"/>
              <a:cs typeface="Calibri"/>
              <a:sym typeface="Calibri"/>
            </a:endParaRPr>
          </a:p>
        </p:txBody>
      </p:sp>
      <p:sp>
        <p:nvSpPr>
          <p:cNvPr id="204" name="Google Shape;204;p29"/>
          <p:cNvSpPr txBox="1">
            <a:spLocks noGrp="1"/>
          </p:cNvSpPr>
          <p:nvPr>
            <p:ph type="body" idx="1"/>
          </p:nvPr>
        </p:nvSpPr>
        <p:spPr>
          <a:xfrm>
            <a:off x="838200" y="1825625"/>
            <a:ext cx="10515600" cy="331164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dirty="0"/>
              <a:t>Hyperplane: </a:t>
            </a:r>
            <a:r>
              <a:rPr lang="en-US" sz="2400" dirty="0" err="1"/>
              <a:t>Xüsusiyyətlər</a:t>
            </a:r>
            <a:r>
              <a:rPr lang="en-US" sz="2400" dirty="0"/>
              <a:t> </a:t>
            </a:r>
            <a:r>
              <a:rPr lang="en-US" sz="2400" dirty="0" err="1"/>
              <a:t>məkanında</a:t>
            </a:r>
            <a:r>
              <a:rPr lang="en-US" sz="2400" dirty="0"/>
              <a:t> </a:t>
            </a:r>
            <a:r>
              <a:rPr lang="en-US" sz="2400" dirty="0" err="1"/>
              <a:t>müxtəlif</a:t>
            </a:r>
            <a:r>
              <a:rPr lang="en-US" sz="2400" dirty="0"/>
              <a:t> </a:t>
            </a:r>
            <a:r>
              <a:rPr lang="en-US" sz="2400" dirty="0" err="1"/>
              <a:t>sinifləri</a:t>
            </a:r>
            <a:r>
              <a:rPr lang="en-US" sz="2400" dirty="0"/>
              <a:t> </a:t>
            </a:r>
            <a:r>
              <a:rPr lang="en-US" sz="2400" dirty="0" err="1"/>
              <a:t>ayıran</a:t>
            </a:r>
            <a:r>
              <a:rPr lang="en-US" sz="2400" dirty="0"/>
              <a:t> </a:t>
            </a:r>
            <a:r>
              <a:rPr lang="en-US" sz="2400" dirty="0" err="1"/>
              <a:t>qərar</a:t>
            </a:r>
            <a:r>
              <a:rPr lang="en-US" sz="2400" dirty="0"/>
              <a:t> </a:t>
            </a:r>
            <a:r>
              <a:rPr lang="en-US" sz="2400" dirty="0" err="1"/>
              <a:t>sərhədi</a:t>
            </a:r>
            <a:r>
              <a:rPr lang="en-US" sz="2400" dirty="0"/>
              <a:t> </a:t>
            </a:r>
            <a:r>
              <a:rPr lang="en-US" sz="2400" dirty="0" err="1"/>
              <a:t>və</a:t>
            </a:r>
            <a:r>
              <a:rPr lang="en-US" sz="2400" dirty="0"/>
              <a:t> </a:t>
            </a:r>
            <a:r>
              <a:rPr lang="en-US" sz="2400" dirty="0" err="1"/>
              <a:t>xətti</a:t>
            </a:r>
            <a:r>
              <a:rPr lang="en-US" sz="2400" dirty="0"/>
              <a:t> </a:t>
            </a:r>
            <a:r>
              <a:rPr lang="en-US" sz="2400" dirty="0" err="1"/>
              <a:t>təsnifatda</a:t>
            </a:r>
            <a:r>
              <a:rPr lang="en-US" sz="2400" dirty="0"/>
              <a:t> </a:t>
            </a:r>
            <a:r>
              <a:rPr lang="en-US" sz="2400" dirty="0" err="1"/>
              <a:t>wx</a:t>
            </a:r>
            <a:r>
              <a:rPr lang="en-US" sz="2400" dirty="0"/>
              <a:t> + b = 0 </a:t>
            </a:r>
            <a:r>
              <a:rPr lang="en-US" sz="2400" dirty="0" err="1"/>
              <a:t>tənliyi</a:t>
            </a:r>
            <a:r>
              <a:rPr lang="en-US" sz="2400" dirty="0"/>
              <a:t> </a:t>
            </a:r>
            <a:r>
              <a:rPr lang="en-US" sz="2400" dirty="0" err="1"/>
              <a:t>ilə</a:t>
            </a:r>
            <a:r>
              <a:rPr lang="en-US" sz="2400" dirty="0"/>
              <a:t> </a:t>
            </a:r>
            <a:r>
              <a:rPr lang="en-US" sz="2400" dirty="0" err="1"/>
              <a:t>təmsil</a:t>
            </a:r>
            <a:r>
              <a:rPr lang="en-US" sz="2400" dirty="0"/>
              <a:t> </a:t>
            </a:r>
            <a:r>
              <a:rPr lang="en-US" sz="2400" dirty="0" err="1"/>
              <a:t>olunur</a:t>
            </a:r>
            <a:r>
              <a:rPr lang="en-US" sz="2400" dirty="0"/>
              <a:t>.</a:t>
            </a:r>
            <a:endParaRPr dirty="0"/>
          </a:p>
          <a:p>
            <a:pPr marL="228600" lvl="0" indent="-228600" algn="l" rtl="0">
              <a:lnSpc>
                <a:spcPct val="90000"/>
              </a:lnSpc>
              <a:spcBef>
                <a:spcPts val="1000"/>
              </a:spcBef>
              <a:spcAft>
                <a:spcPts val="0"/>
              </a:spcAft>
              <a:buClr>
                <a:schemeClr val="dk1"/>
              </a:buClr>
              <a:buSzPts val="2400"/>
              <a:buChar char="•"/>
            </a:pPr>
            <a:r>
              <a:rPr lang="en-US" sz="2400" dirty="0"/>
              <a:t>Support Vectors: SVM-</a:t>
            </a:r>
            <a:r>
              <a:rPr lang="en-US" sz="2400" dirty="0" err="1"/>
              <a:t>də</a:t>
            </a:r>
            <a:r>
              <a:rPr lang="en-US" sz="2400" dirty="0"/>
              <a:t> </a:t>
            </a:r>
            <a:r>
              <a:rPr lang="en-US" sz="2400" dirty="0" err="1"/>
              <a:t>hyperplane’ə</a:t>
            </a:r>
            <a:r>
              <a:rPr lang="en-US" sz="2400" dirty="0"/>
              <a:t> </a:t>
            </a:r>
            <a:r>
              <a:rPr lang="en-US" sz="2400" dirty="0" err="1"/>
              <a:t>ən</a:t>
            </a:r>
            <a:r>
              <a:rPr lang="en-US" sz="2400" dirty="0"/>
              <a:t> </a:t>
            </a:r>
            <a:r>
              <a:rPr lang="en-US" sz="2400" dirty="0" err="1"/>
              <a:t>yaxın</a:t>
            </a:r>
            <a:r>
              <a:rPr lang="en-US" sz="2400" dirty="0"/>
              <a:t> </a:t>
            </a:r>
            <a:r>
              <a:rPr lang="en-US" sz="2400" dirty="0" err="1"/>
              <a:t>olan</a:t>
            </a:r>
            <a:r>
              <a:rPr lang="en-US" sz="2400" dirty="0"/>
              <a:t> </a:t>
            </a:r>
            <a:r>
              <a:rPr lang="en-US" sz="2400" dirty="0" err="1"/>
              <a:t>məlumat</a:t>
            </a:r>
            <a:r>
              <a:rPr lang="en-US" sz="2400" dirty="0"/>
              <a:t> </a:t>
            </a:r>
            <a:r>
              <a:rPr lang="en-US" sz="2400" dirty="0" err="1"/>
              <a:t>nöqtələridir</a:t>
            </a:r>
            <a:r>
              <a:rPr lang="en-US" sz="2400" dirty="0"/>
              <a:t>. Hyperplane </a:t>
            </a:r>
            <a:r>
              <a:rPr lang="en-US" sz="2400" dirty="0" err="1"/>
              <a:t>və</a:t>
            </a:r>
            <a:r>
              <a:rPr lang="en-US" sz="2400" dirty="0"/>
              <a:t> </a:t>
            </a:r>
            <a:r>
              <a:rPr lang="en-US" sz="2400" dirty="0" err="1"/>
              <a:t>kənarı</a:t>
            </a:r>
            <a:r>
              <a:rPr lang="en-US" sz="2400" dirty="0"/>
              <a:t> </a:t>
            </a:r>
            <a:r>
              <a:rPr lang="en-US" sz="2400" dirty="0" err="1"/>
              <a:t>müəyyən</a:t>
            </a:r>
            <a:r>
              <a:rPr lang="en-US" sz="2400" dirty="0"/>
              <a:t> </a:t>
            </a:r>
            <a:r>
              <a:rPr lang="en-US" sz="2400" dirty="0" err="1"/>
              <a:t>etmək</a:t>
            </a:r>
            <a:r>
              <a:rPr lang="en-US" sz="2400" dirty="0"/>
              <a:t> </a:t>
            </a:r>
            <a:r>
              <a:rPr lang="en-US" sz="2400" dirty="0" err="1"/>
              <a:t>üçün</a:t>
            </a:r>
            <a:r>
              <a:rPr lang="en-US" sz="2400" dirty="0"/>
              <a:t> </a:t>
            </a:r>
            <a:r>
              <a:rPr lang="en-US" sz="2400" dirty="0" err="1"/>
              <a:t>vacibdir</a:t>
            </a:r>
            <a:r>
              <a:rPr lang="en-US" sz="2400" dirty="0"/>
              <a:t>.</a:t>
            </a:r>
            <a:endParaRPr dirty="0"/>
          </a:p>
          <a:p>
            <a:pPr marL="228600" lvl="0" indent="-228600" algn="l" rtl="0">
              <a:lnSpc>
                <a:spcPct val="90000"/>
              </a:lnSpc>
              <a:spcBef>
                <a:spcPts val="1000"/>
              </a:spcBef>
              <a:spcAft>
                <a:spcPts val="0"/>
              </a:spcAft>
              <a:buClr>
                <a:schemeClr val="dk1"/>
              </a:buClr>
              <a:buSzPts val="2400"/>
              <a:buChar char="•"/>
            </a:pPr>
            <a:r>
              <a:rPr lang="en-US" sz="2400" dirty="0"/>
              <a:t>Margin: Hyperplane </a:t>
            </a:r>
            <a:r>
              <a:rPr lang="en-US" sz="2400" dirty="0" err="1"/>
              <a:t>və</a:t>
            </a:r>
            <a:r>
              <a:rPr lang="en-US" sz="2400" dirty="0"/>
              <a:t> Support </a:t>
            </a:r>
            <a:r>
              <a:rPr lang="en-US" sz="2400" dirty="0" err="1"/>
              <a:t>vektorlar</a:t>
            </a:r>
            <a:r>
              <a:rPr lang="en-US" sz="2400" dirty="0"/>
              <a:t> </a:t>
            </a:r>
            <a:r>
              <a:rPr lang="en-US" sz="2400" dirty="0" err="1"/>
              <a:t>arasındakı</a:t>
            </a:r>
            <a:r>
              <a:rPr lang="en-US" sz="2400" dirty="0"/>
              <a:t> </a:t>
            </a:r>
            <a:r>
              <a:rPr lang="en-US" sz="2400" dirty="0" err="1"/>
              <a:t>məsafə</a:t>
            </a:r>
            <a:r>
              <a:rPr lang="en-US" sz="2400" dirty="0"/>
              <a:t>. SVM </a:t>
            </a:r>
            <a:r>
              <a:rPr lang="en-US" sz="2400" dirty="0" err="1"/>
              <a:t>daha</a:t>
            </a:r>
            <a:r>
              <a:rPr lang="en-US" sz="2400" dirty="0"/>
              <a:t> </a:t>
            </a:r>
            <a:r>
              <a:rPr lang="en-US" sz="2400" dirty="0" err="1"/>
              <a:t>yaxşı</a:t>
            </a:r>
            <a:r>
              <a:rPr lang="en-US" sz="2400" dirty="0"/>
              <a:t> </a:t>
            </a:r>
            <a:r>
              <a:rPr lang="en-US" sz="2400" dirty="0" err="1"/>
              <a:t>təsnifat</a:t>
            </a:r>
            <a:r>
              <a:rPr lang="en-US" sz="2400" dirty="0"/>
              <a:t> </a:t>
            </a:r>
            <a:r>
              <a:rPr lang="en-US" sz="2400" dirty="0" err="1"/>
              <a:t>performansı</a:t>
            </a:r>
            <a:r>
              <a:rPr lang="en-US" sz="2400" dirty="0"/>
              <a:t> </a:t>
            </a:r>
            <a:r>
              <a:rPr lang="en-US" sz="2400" dirty="0" err="1"/>
              <a:t>üçün</a:t>
            </a:r>
            <a:r>
              <a:rPr lang="en-US" sz="2400" dirty="0"/>
              <a:t> </a:t>
            </a:r>
            <a:r>
              <a:rPr lang="en-US" sz="2400" dirty="0" err="1"/>
              <a:t>bu</a:t>
            </a:r>
            <a:r>
              <a:rPr lang="en-US" sz="2400" dirty="0"/>
              <a:t> </a:t>
            </a:r>
            <a:r>
              <a:rPr lang="en-US" sz="2400" dirty="0" err="1"/>
              <a:t>marjı</a:t>
            </a:r>
            <a:r>
              <a:rPr lang="en-US" sz="2400" dirty="0"/>
              <a:t> </a:t>
            </a:r>
            <a:r>
              <a:rPr lang="en-US" sz="2400" dirty="0" err="1"/>
              <a:t>maksimuma</a:t>
            </a:r>
            <a:r>
              <a:rPr lang="en-US" sz="2400" dirty="0"/>
              <a:t> </a:t>
            </a:r>
            <a:r>
              <a:rPr lang="en-US" sz="2400" dirty="0" err="1"/>
              <a:t>çatdırmağı</a:t>
            </a:r>
            <a:r>
              <a:rPr lang="en-US" sz="2400" dirty="0"/>
              <a:t> </a:t>
            </a:r>
            <a:r>
              <a:rPr lang="en-US" sz="2400" dirty="0" err="1"/>
              <a:t>hədəfləyir</a:t>
            </a:r>
            <a:r>
              <a:rPr lang="en-US" sz="2400" dirty="0"/>
              <a:t>.</a:t>
            </a:r>
            <a:endParaRPr dirty="0"/>
          </a:p>
          <a:p>
            <a:pPr marL="228600" lvl="0" indent="-228600" algn="l" rtl="0">
              <a:lnSpc>
                <a:spcPct val="90000"/>
              </a:lnSpc>
              <a:spcBef>
                <a:spcPts val="1000"/>
              </a:spcBef>
              <a:spcAft>
                <a:spcPts val="0"/>
              </a:spcAft>
              <a:buClr>
                <a:schemeClr val="dk1"/>
              </a:buClr>
              <a:buSzPts val="2400"/>
              <a:buChar char="•"/>
            </a:pPr>
            <a:r>
              <a:rPr lang="en-US" sz="2400" dirty="0"/>
              <a:t>Kernel: SVM-ə </a:t>
            </a:r>
            <a:r>
              <a:rPr lang="en-US" sz="2400" dirty="0" err="1"/>
              <a:t>qeyri-xətti</a:t>
            </a:r>
            <a:r>
              <a:rPr lang="en-US" sz="2400" dirty="0"/>
              <a:t> </a:t>
            </a:r>
            <a:r>
              <a:rPr lang="en-US" sz="2400" dirty="0" err="1"/>
              <a:t>olaraq</a:t>
            </a:r>
            <a:r>
              <a:rPr lang="en-US" sz="2400" dirty="0"/>
              <a:t> </a:t>
            </a:r>
            <a:r>
              <a:rPr lang="en-US" sz="2400" dirty="0" err="1"/>
              <a:t>ayrıla</a:t>
            </a:r>
            <a:r>
              <a:rPr lang="en-US" sz="2400" dirty="0"/>
              <a:t> </a:t>
            </a:r>
            <a:r>
              <a:rPr lang="en-US" sz="2400" dirty="0" err="1"/>
              <a:t>bilən</a:t>
            </a:r>
            <a:r>
              <a:rPr lang="en-US" sz="2400" dirty="0"/>
              <a:t> </a:t>
            </a:r>
            <a:r>
              <a:rPr lang="en-US" sz="2400" dirty="0" err="1"/>
              <a:t>məlumatları</a:t>
            </a:r>
            <a:r>
              <a:rPr lang="en-US" sz="2400" dirty="0"/>
              <a:t> </a:t>
            </a:r>
            <a:r>
              <a:rPr lang="en-US" sz="2400" dirty="0" err="1"/>
              <a:t>idarə</a:t>
            </a:r>
            <a:r>
              <a:rPr lang="en-US" sz="2400" dirty="0"/>
              <a:t> </a:t>
            </a:r>
            <a:r>
              <a:rPr lang="en-US" sz="2400" dirty="0" err="1"/>
              <a:t>etməyə</a:t>
            </a:r>
            <a:r>
              <a:rPr lang="en-US" sz="2400" dirty="0"/>
              <a:t> </a:t>
            </a:r>
            <a:r>
              <a:rPr lang="en-US" sz="2400" dirty="0" err="1"/>
              <a:t>imkan</a:t>
            </a:r>
            <a:r>
              <a:rPr lang="en-US" sz="2400" dirty="0"/>
              <a:t> </a:t>
            </a:r>
            <a:r>
              <a:rPr lang="en-US" sz="2400" dirty="0" err="1"/>
              <a:t>verən</a:t>
            </a:r>
            <a:r>
              <a:rPr lang="en-US" sz="2400" dirty="0"/>
              <a:t> </a:t>
            </a:r>
            <a:r>
              <a:rPr lang="en-US" sz="2400" dirty="0" err="1"/>
              <a:t>məlumatları</a:t>
            </a:r>
            <a:r>
              <a:rPr lang="en-US" sz="2400" dirty="0"/>
              <a:t> </a:t>
            </a:r>
            <a:r>
              <a:rPr lang="en-US" sz="2400" dirty="0" err="1"/>
              <a:t>daha</a:t>
            </a:r>
            <a:r>
              <a:rPr lang="en-US" sz="2400" dirty="0"/>
              <a:t> </a:t>
            </a:r>
            <a:r>
              <a:rPr lang="en-US" sz="2400" dirty="0" err="1"/>
              <a:t>yüksək</a:t>
            </a:r>
            <a:r>
              <a:rPr lang="en-US" sz="2400" dirty="0"/>
              <a:t> </a:t>
            </a:r>
            <a:r>
              <a:rPr lang="en-US" sz="2400" dirty="0" err="1"/>
              <a:t>ölçülü</a:t>
            </a:r>
            <a:r>
              <a:rPr lang="en-US" sz="2400" dirty="0"/>
              <a:t> </a:t>
            </a:r>
            <a:r>
              <a:rPr lang="en-US" sz="2400" dirty="0" err="1"/>
              <a:t>məkana</a:t>
            </a:r>
            <a:r>
              <a:rPr lang="en-US" sz="2400" dirty="0"/>
              <a:t> </a:t>
            </a:r>
            <a:r>
              <a:rPr lang="en-US" sz="2400" dirty="0" err="1"/>
              <a:t>uyğunlaşdıran</a:t>
            </a:r>
            <a:r>
              <a:rPr lang="en-US" sz="2400" dirty="0"/>
              <a:t> </a:t>
            </a:r>
            <a:r>
              <a:rPr lang="en-US" sz="2400" dirty="0" err="1"/>
              <a:t>funksiya</a:t>
            </a:r>
            <a:r>
              <a:rPr lang="en-US" sz="2400" dirty="0"/>
              <a:t>.</a:t>
            </a:r>
            <a:endParaRPr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0"/>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Support Vector Machines (SVM) </a:t>
            </a:r>
            <a:endParaRPr sz="2800">
              <a:solidFill>
                <a:schemeClr val="dk1"/>
              </a:solidFill>
              <a:latin typeface="Calibri"/>
              <a:ea typeface="Calibri"/>
              <a:cs typeface="Calibri"/>
              <a:sym typeface="Calibri"/>
            </a:endParaRPr>
          </a:p>
        </p:txBody>
      </p:sp>
      <p:sp>
        <p:nvSpPr>
          <p:cNvPr id="210" name="Google Shape;210;p30"/>
          <p:cNvSpPr txBox="1">
            <a:spLocks noGrp="1"/>
          </p:cNvSpPr>
          <p:nvPr>
            <p:ph type="body" idx="1"/>
          </p:nvPr>
        </p:nvSpPr>
        <p:spPr>
          <a:xfrm>
            <a:off x="775392" y="1224193"/>
            <a:ext cx="10515600" cy="81782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1 müstəqil dəyişən</a:t>
            </a:r>
            <a:endParaRPr/>
          </a:p>
        </p:txBody>
      </p:sp>
      <p:pic>
        <p:nvPicPr>
          <p:cNvPr id="211" name="Google Shape;211;p30"/>
          <p:cNvPicPr preferRelativeResize="0"/>
          <p:nvPr/>
        </p:nvPicPr>
        <p:blipFill rotWithShape="1">
          <a:blip r:embed="rId3">
            <a:alphaModFix/>
          </a:blip>
          <a:srcRect/>
          <a:stretch/>
        </p:blipFill>
        <p:spPr>
          <a:xfrm>
            <a:off x="5178827" y="1051845"/>
            <a:ext cx="3874193" cy="1386126"/>
          </a:xfrm>
          <a:prstGeom prst="rect">
            <a:avLst/>
          </a:prstGeom>
          <a:noFill/>
          <a:ln>
            <a:noFill/>
          </a:ln>
        </p:spPr>
      </p:pic>
      <p:pic>
        <p:nvPicPr>
          <p:cNvPr id="212" name="Google Shape;212;p30"/>
          <p:cNvPicPr preferRelativeResize="0"/>
          <p:nvPr/>
        </p:nvPicPr>
        <p:blipFill rotWithShape="1">
          <a:blip r:embed="rId4">
            <a:alphaModFix/>
          </a:blip>
          <a:srcRect/>
          <a:stretch/>
        </p:blipFill>
        <p:spPr>
          <a:xfrm>
            <a:off x="775392" y="4577327"/>
            <a:ext cx="3231342" cy="550966"/>
          </a:xfrm>
          <a:prstGeom prst="rect">
            <a:avLst/>
          </a:prstGeom>
          <a:noFill/>
          <a:ln>
            <a:noFill/>
          </a:ln>
        </p:spPr>
      </p:pic>
      <p:pic>
        <p:nvPicPr>
          <p:cNvPr id="213" name="Google Shape;213;p30"/>
          <p:cNvPicPr preferRelativeResize="0"/>
          <p:nvPr/>
        </p:nvPicPr>
        <p:blipFill rotWithShape="1">
          <a:blip r:embed="rId5">
            <a:alphaModFix/>
          </a:blip>
          <a:srcRect/>
          <a:stretch/>
        </p:blipFill>
        <p:spPr>
          <a:xfrm>
            <a:off x="5178827" y="3470851"/>
            <a:ext cx="4500145" cy="2763918"/>
          </a:xfrm>
          <a:prstGeom prst="rect">
            <a:avLst/>
          </a:prstGeom>
          <a:noFill/>
          <a:ln>
            <a:noFill/>
          </a:ln>
        </p:spPr>
      </p:pic>
      <p:sp>
        <p:nvSpPr>
          <p:cNvPr id="214" name="Google Shape;214;p30"/>
          <p:cNvSpPr/>
          <p:nvPr/>
        </p:nvSpPr>
        <p:spPr>
          <a:xfrm>
            <a:off x="4006734" y="1348082"/>
            <a:ext cx="656705" cy="281868"/>
          </a:xfrm>
          <a:prstGeom prst="rightArrow">
            <a:avLst>
              <a:gd name="adj1" fmla="val 38203"/>
              <a:gd name="adj2" fmla="val 50000"/>
            </a:avLst>
          </a:prstGeom>
          <a:solidFill>
            <a:schemeClr val="accent2"/>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 name="Google Shape;215;p30"/>
          <p:cNvSpPr/>
          <p:nvPr/>
        </p:nvSpPr>
        <p:spPr>
          <a:xfrm rot="5400000">
            <a:off x="1921776" y="2297037"/>
            <a:ext cx="656705" cy="281868"/>
          </a:xfrm>
          <a:prstGeom prst="rightArrow">
            <a:avLst>
              <a:gd name="adj1" fmla="val 38203"/>
              <a:gd name="adj2" fmla="val 50000"/>
            </a:avLst>
          </a:prstGeom>
          <a:solidFill>
            <a:schemeClr val="accent2"/>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30"/>
          <p:cNvSpPr/>
          <p:nvPr/>
        </p:nvSpPr>
        <p:spPr>
          <a:xfrm>
            <a:off x="4227021" y="4711876"/>
            <a:ext cx="656705" cy="281868"/>
          </a:xfrm>
          <a:prstGeom prst="rightArrow">
            <a:avLst>
              <a:gd name="adj1" fmla="val 38203"/>
              <a:gd name="adj2" fmla="val 50000"/>
            </a:avLst>
          </a:prstGeom>
          <a:solidFill>
            <a:schemeClr val="accent2"/>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1"/>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Decision Tree</a:t>
            </a:r>
            <a:endParaRPr sz="2800">
              <a:solidFill>
                <a:schemeClr val="dk1"/>
              </a:solidFill>
              <a:latin typeface="Calibri"/>
              <a:ea typeface="Calibri"/>
              <a:cs typeface="Calibri"/>
              <a:sym typeface="Calibri"/>
            </a:endParaRPr>
          </a:p>
        </p:txBody>
      </p:sp>
      <p:pic>
        <p:nvPicPr>
          <p:cNvPr id="222" name="Google Shape;222;p31"/>
          <p:cNvPicPr preferRelativeResize="0">
            <a:picLocks noGrp="1"/>
          </p:cNvPicPr>
          <p:nvPr>
            <p:ph type="body" idx="1"/>
          </p:nvPr>
        </p:nvPicPr>
        <p:blipFill rotWithShape="1">
          <a:blip r:embed="rId3">
            <a:alphaModFix/>
          </a:blip>
          <a:srcRect/>
          <a:stretch/>
        </p:blipFill>
        <p:spPr>
          <a:xfrm>
            <a:off x="2853011" y="1807505"/>
            <a:ext cx="6485978" cy="324298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2"/>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Decision Tree</a:t>
            </a:r>
            <a:endParaRPr sz="2800">
              <a:solidFill>
                <a:schemeClr val="dk1"/>
              </a:solidFill>
              <a:latin typeface="Calibri"/>
              <a:ea typeface="Calibri"/>
              <a:cs typeface="Calibri"/>
              <a:sym typeface="Calibri"/>
            </a:endParaRPr>
          </a:p>
        </p:txBody>
      </p:sp>
      <p:pic>
        <p:nvPicPr>
          <p:cNvPr id="228" name="Google Shape;228;p32"/>
          <p:cNvPicPr preferRelativeResize="0"/>
          <p:nvPr/>
        </p:nvPicPr>
        <p:blipFill rotWithShape="1">
          <a:blip r:embed="rId3">
            <a:alphaModFix/>
          </a:blip>
          <a:srcRect/>
          <a:stretch/>
        </p:blipFill>
        <p:spPr>
          <a:xfrm>
            <a:off x="2853011" y="1807505"/>
            <a:ext cx="6485977" cy="324298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3"/>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Decision Tree</a:t>
            </a:r>
            <a:endParaRPr sz="2800">
              <a:solidFill>
                <a:schemeClr val="dk1"/>
              </a:solidFill>
              <a:latin typeface="Calibri"/>
              <a:ea typeface="Calibri"/>
              <a:cs typeface="Calibri"/>
              <a:sym typeface="Calibri"/>
            </a:endParaRPr>
          </a:p>
        </p:txBody>
      </p:sp>
      <p:pic>
        <p:nvPicPr>
          <p:cNvPr id="234" name="Google Shape;234;p33"/>
          <p:cNvPicPr preferRelativeResize="0"/>
          <p:nvPr/>
        </p:nvPicPr>
        <p:blipFill rotWithShape="1">
          <a:blip r:embed="rId3">
            <a:alphaModFix/>
          </a:blip>
          <a:srcRect/>
          <a:stretch/>
        </p:blipFill>
        <p:spPr>
          <a:xfrm>
            <a:off x="2853011" y="1807505"/>
            <a:ext cx="6485977" cy="324298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34"/>
          <p:cNvPicPr preferRelativeResize="0"/>
          <p:nvPr/>
        </p:nvPicPr>
        <p:blipFill rotWithShape="1">
          <a:blip r:embed="rId3">
            <a:alphaModFix/>
          </a:blip>
          <a:srcRect l="6009" t="7084" r="9247" b="12339"/>
          <a:stretch/>
        </p:blipFill>
        <p:spPr>
          <a:xfrm>
            <a:off x="358670" y="1866205"/>
            <a:ext cx="5553705" cy="3125585"/>
          </a:xfrm>
          <a:prstGeom prst="rect">
            <a:avLst/>
          </a:prstGeom>
          <a:noFill/>
          <a:ln>
            <a:noFill/>
          </a:ln>
        </p:spPr>
      </p:pic>
      <p:sp>
        <p:nvSpPr>
          <p:cNvPr id="241" name="Google Shape;241;p34"/>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Decision Tree</a:t>
            </a:r>
            <a:endParaRPr sz="280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6844DF92-4264-A8AE-A817-0B8C0B8DBB5C}"/>
              </a:ext>
            </a:extLst>
          </p:cNvPr>
          <p:cNvGraphicFramePr>
            <a:graphicFrameLocks noGrp="1"/>
          </p:cNvGraphicFramePr>
          <p:nvPr>
            <p:extLst>
              <p:ext uri="{D42A27DB-BD31-4B8C-83A1-F6EECF244321}">
                <p14:modId xmlns:p14="http://schemas.microsoft.com/office/powerpoint/2010/main" val="1074371903"/>
              </p:ext>
            </p:extLst>
          </p:nvPr>
        </p:nvGraphicFramePr>
        <p:xfrm>
          <a:off x="6607276" y="2635045"/>
          <a:ext cx="5371692" cy="2217119"/>
        </p:xfrm>
        <a:graphic>
          <a:graphicData uri="http://schemas.openxmlformats.org/drawingml/2006/table">
            <a:tbl>
              <a:tblPr firstRow="1" bandRow="1">
                <a:tableStyleId>{0058FCE0-8840-423D-97B8-CAC1A712816E}</a:tableStyleId>
              </a:tblPr>
              <a:tblGrid>
                <a:gridCol w="1342923">
                  <a:extLst>
                    <a:ext uri="{9D8B030D-6E8A-4147-A177-3AD203B41FA5}">
                      <a16:colId xmlns:a16="http://schemas.microsoft.com/office/drawing/2014/main" val="57006379"/>
                    </a:ext>
                  </a:extLst>
                </a:gridCol>
                <a:gridCol w="1342923">
                  <a:extLst>
                    <a:ext uri="{9D8B030D-6E8A-4147-A177-3AD203B41FA5}">
                      <a16:colId xmlns:a16="http://schemas.microsoft.com/office/drawing/2014/main" val="2166720625"/>
                    </a:ext>
                  </a:extLst>
                </a:gridCol>
                <a:gridCol w="1342923">
                  <a:extLst>
                    <a:ext uri="{9D8B030D-6E8A-4147-A177-3AD203B41FA5}">
                      <a16:colId xmlns:a16="http://schemas.microsoft.com/office/drawing/2014/main" val="3515241153"/>
                    </a:ext>
                  </a:extLst>
                </a:gridCol>
                <a:gridCol w="1342923">
                  <a:extLst>
                    <a:ext uri="{9D8B030D-6E8A-4147-A177-3AD203B41FA5}">
                      <a16:colId xmlns:a16="http://schemas.microsoft.com/office/drawing/2014/main" val="3208690853"/>
                    </a:ext>
                  </a:extLst>
                </a:gridCol>
              </a:tblGrid>
              <a:tr h="362919">
                <a:tc>
                  <a:txBody>
                    <a:bodyPr/>
                    <a:lstStyle/>
                    <a:p>
                      <a:r>
                        <a:rPr lang="en-US" dirty="0"/>
                        <a:t>Weather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Hungry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5885508"/>
                  </a:ext>
                </a:extLst>
              </a:tr>
              <a:tr h="370840">
                <a:tc>
                  <a:txBody>
                    <a:bodyPr/>
                    <a:lstStyle/>
                    <a:p>
                      <a:r>
                        <a:rPr lang="en-US" dirty="0"/>
                        <a:t>Sun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&gt; 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Walk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9288279"/>
                  </a:ext>
                </a:extLst>
              </a:tr>
              <a:tr h="370840">
                <a:tc>
                  <a:txBody>
                    <a:bodyPr/>
                    <a:lstStyle/>
                    <a:p>
                      <a:r>
                        <a:rPr lang="en-US" dirty="0"/>
                        <a:t>Sun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&lt; 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7620645"/>
                  </a:ext>
                </a:extLst>
              </a:tr>
              <a:tr h="370840">
                <a:tc>
                  <a:txBody>
                    <a:bodyPr/>
                    <a:lstStyle/>
                    <a:p>
                      <a:r>
                        <a:rPr lang="en-US" dirty="0"/>
                        <a:t>Cloud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Walk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823803"/>
                  </a:ext>
                </a:extLst>
              </a:tr>
              <a:tr h="370840">
                <a:tc>
                  <a:txBody>
                    <a:bodyPr/>
                    <a:lstStyle/>
                    <a:p>
                      <a:r>
                        <a:rPr lang="en-US" dirty="0"/>
                        <a:t>Cloud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6037749"/>
                  </a:ext>
                </a:extLst>
              </a:tr>
              <a:tr h="370840">
                <a:tc>
                  <a:txBody>
                    <a:bodyPr/>
                    <a:lstStyle/>
                    <a:p>
                      <a:r>
                        <a:rPr lang="en-US" dirty="0"/>
                        <a:t>Rain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063246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8">
          <a:extLst>
            <a:ext uri="{FF2B5EF4-FFF2-40B4-BE49-F238E27FC236}">
              <a16:creationId xmlns:a16="http://schemas.microsoft.com/office/drawing/2014/main" id="{A33AA744-8E67-6F9D-9D5E-04C5388ED3B1}"/>
            </a:ext>
          </a:extLst>
        </p:cNvPr>
        <p:cNvGrpSpPr/>
        <p:nvPr/>
      </p:nvGrpSpPr>
      <p:grpSpPr>
        <a:xfrm>
          <a:off x="0" y="0"/>
          <a:ext cx="0" cy="0"/>
          <a:chOff x="0" y="0"/>
          <a:chExt cx="0" cy="0"/>
        </a:xfrm>
      </p:grpSpPr>
      <p:pic>
        <p:nvPicPr>
          <p:cNvPr id="240" name="Google Shape;240;p34">
            <a:extLst>
              <a:ext uri="{FF2B5EF4-FFF2-40B4-BE49-F238E27FC236}">
                <a16:creationId xmlns:a16="http://schemas.microsoft.com/office/drawing/2014/main" id="{250D4B8D-B204-7F58-1066-9A80F35607BA}"/>
              </a:ext>
            </a:extLst>
          </p:cNvPr>
          <p:cNvPicPr preferRelativeResize="0">
            <a:picLocks noGrp="1"/>
          </p:cNvPicPr>
          <p:nvPr>
            <p:ph type="body" idx="1"/>
          </p:nvPr>
        </p:nvPicPr>
        <p:blipFill rotWithShape="1">
          <a:blip r:embed="rId3">
            <a:alphaModFix/>
          </a:blip>
          <a:srcRect l="8494" t="5900" r="5895" b="6243"/>
          <a:stretch/>
        </p:blipFill>
        <p:spPr>
          <a:xfrm>
            <a:off x="3231252" y="758549"/>
            <a:ext cx="5729495" cy="5340901"/>
          </a:xfrm>
          <a:prstGeom prst="rect">
            <a:avLst/>
          </a:prstGeom>
          <a:noFill/>
          <a:ln>
            <a:noFill/>
          </a:ln>
        </p:spPr>
      </p:pic>
      <p:sp>
        <p:nvSpPr>
          <p:cNvPr id="241" name="Google Shape;241;p34">
            <a:extLst>
              <a:ext uri="{FF2B5EF4-FFF2-40B4-BE49-F238E27FC236}">
                <a16:creationId xmlns:a16="http://schemas.microsoft.com/office/drawing/2014/main" id="{8934FCB3-0890-87C6-3BF0-4FE9B80960A9}"/>
              </a:ext>
            </a:extLst>
          </p:cNvPr>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Decision Tree</a:t>
            </a:r>
            <a:endParaRPr sz="2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07363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5"/>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Decision Tree</a:t>
            </a:r>
            <a:endParaRPr sz="2800">
              <a:solidFill>
                <a:schemeClr val="dk1"/>
              </a:solidFill>
              <a:latin typeface="Calibri"/>
              <a:ea typeface="Calibri"/>
              <a:cs typeface="Calibri"/>
              <a:sym typeface="Calibri"/>
            </a:endParaRPr>
          </a:p>
        </p:txBody>
      </p:sp>
      <p:pic>
        <p:nvPicPr>
          <p:cNvPr id="247" name="Google Shape;247;p35"/>
          <p:cNvPicPr preferRelativeResize="0"/>
          <p:nvPr/>
        </p:nvPicPr>
        <p:blipFill rotWithShape="1">
          <a:blip r:embed="rId3">
            <a:alphaModFix/>
          </a:blip>
          <a:srcRect/>
          <a:stretch/>
        </p:blipFill>
        <p:spPr>
          <a:xfrm>
            <a:off x="3363248" y="536171"/>
            <a:ext cx="5465503" cy="578565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6"/>
          <p:cNvSpPr txBox="1">
            <a:spLocks noGrp="1"/>
          </p:cNvSpPr>
          <p:nvPr>
            <p:ph type="ctrTitle"/>
          </p:nvPr>
        </p:nvSpPr>
        <p:spPr>
          <a:xfrm>
            <a:off x="1524000" y="1122362"/>
            <a:ext cx="9144000" cy="29924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Ensemble Learning Algorithms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7"/>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Ensemble Learning</a:t>
            </a:r>
            <a:endParaRPr sz="2800">
              <a:solidFill>
                <a:schemeClr val="dk1"/>
              </a:solidFill>
              <a:latin typeface="Calibri"/>
              <a:ea typeface="Calibri"/>
              <a:cs typeface="Calibri"/>
              <a:sym typeface="Calibri"/>
            </a:endParaRPr>
          </a:p>
        </p:txBody>
      </p:sp>
      <p:sp>
        <p:nvSpPr>
          <p:cNvPr id="258" name="Google Shape;258;p37"/>
          <p:cNvSpPr txBox="1">
            <a:spLocks noGrp="1"/>
          </p:cNvSpPr>
          <p:nvPr>
            <p:ph type="body" idx="1"/>
          </p:nvPr>
        </p:nvSpPr>
        <p:spPr>
          <a:xfrm>
            <a:off x="838200" y="806335"/>
            <a:ext cx="10515600" cy="178723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a:t>Ansambl öyrənməsi yalnız bir əvəzinə bir çox kiçik modeldən istifadə etdiyimiz bir üsuldur. Bu modellərin hər biri tək başına çox güclü olmaya bilər, lakin biz onların nəticələrini bir araya gətirdikdə daha yaxşı və dəqiq cavab alırıq. Bu, sadəcə bir nəfər əvəzinə bir qrup insandan məsləhət istəmək kimidir – hər biri bir az səhv ola bilər, lakin onlar birlikdə adətən daha yaxşı cavab verirlər.</a:t>
            </a:r>
            <a:endParaRPr/>
          </a:p>
        </p:txBody>
      </p:sp>
      <p:pic>
        <p:nvPicPr>
          <p:cNvPr id="259" name="Google Shape;259;p37"/>
          <p:cNvPicPr preferRelativeResize="0"/>
          <p:nvPr/>
        </p:nvPicPr>
        <p:blipFill rotWithShape="1">
          <a:blip r:embed="rId3">
            <a:alphaModFix/>
          </a:blip>
          <a:srcRect/>
          <a:stretch/>
        </p:blipFill>
        <p:spPr>
          <a:xfrm>
            <a:off x="2753359" y="2876686"/>
            <a:ext cx="6685281" cy="334264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8"/>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Ensemble Learning</a:t>
            </a:r>
            <a:endParaRPr sz="2800">
              <a:solidFill>
                <a:schemeClr val="dk1"/>
              </a:solidFill>
              <a:latin typeface="Calibri"/>
              <a:ea typeface="Calibri"/>
              <a:cs typeface="Calibri"/>
              <a:sym typeface="Calibri"/>
            </a:endParaRPr>
          </a:p>
        </p:txBody>
      </p:sp>
      <p:pic>
        <p:nvPicPr>
          <p:cNvPr id="265" name="Google Shape;265;p38"/>
          <p:cNvPicPr preferRelativeResize="0"/>
          <p:nvPr/>
        </p:nvPicPr>
        <p:blipFill rotWithShape="1">
          <a:blip r:embed="rId3">
            <a:alphaModFix/>
          </a:blip>
          <a:srcRect/>
          <a:stretch/>
        </p:blipFill>
        <p:spPr>
          <a:xfrm>
            <a:off x="2797914" y="1779957"/>
            <a:ext cx="6596171" cy="329808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9"/>
          <p:cNvSpPr txBox="1">
            <a:spLocks noGrp="1"/>
          </p:cNvSpPr>
          <p:nvPr>
            <p:ph type="body" idx="1"/>
          </p:nvPr>
        </p:nvSpPr>
        <p:spPr>
          <a:xfrm>
            <a:off x="838199" y="851693"/>
            <a:ext cx="10515600" cy="190385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dirty="0"/>
              <a:t>Bagging</a:t>
            </a:r>
            <a:r>
              <a:rPr lang="en-US" sz="2400" dirty="0"/>
              <a:t> (</a:t>
            </a:r>
            <a:r>
              <a:rPr lang="en-US" sz="2400" dirty="0" err="1"/>
              <a:t>Torbalama</a:t>
            </a:r>
            <a:r>
              <a:rPr lang="en-US" sz="2400" dirty="0"/>
              <a:t>) - Bootstrap Aggregating:</a:t>
            </a:r>
            <a:endParaRPr dirty="0"/>
          </a:p>
          <a:p>
            <a:pPr marL="0" lvl="0" indent="0" algn="l" rtl="0">
              <a:lnSpc>
                <a:spcPct val="90000"/>
              </a:lnSpc>
              <a:spcBef>
                <a:spcPts val="1000"/>
              </a:spcBef>
              <a:spcAft>
                <a:spcPts val="0"/>
              </a:spcAft>
              <a:buClr>
                <a:schemeClr val="dk1"/>
              </a:buClr>
              <a:buSzPts val="2400"/>
              <a:buNone/>
            </a:pPr>
            <a:r>
              <a:rPr lang="en-US" sz="2400" dirty="0" err="1"/>
              <a:t>Modellərə</a:t>
            </a:r>
            <a:r>
              <a:rPr lang="en-US" sz="2400" dirty="0"/>
              <a:t> train </a:t>
            </a:r>
            <a:r>
              <a:rPr lang="en-US" sz="2400" dirty="0" err="1"/>
              <a:t>datasının</a:t>
            </a:r>
            <a:r>
              <a:rPr lang="en-US" sz="2400" dirty="0"/>
              <a:t> </a:t>
            </a:r>
            <a:r>
              <a:rPr lang="en-US" sz="2400" dirty="0" err="1"/>
              <a:t>müxtəlif</a:t>
            </a:r>
            <a:r>
              <a:rPr lang="en-US" sz="2400" dirty="0"/>
              <a:t> </a:t>
            </a:r>
            <a:r>
              <a:rPr lang="en-US" sz="2400" dirty="0" err="1"/>
              <a:t>təsadüfi</a:t>
            </a:r>
            <a:r>
              <a:rPr lang="en-US" sz="2400" dirty="0"/>
              <a:t> alt </a:t>
            </a:r>
            <a:r>
              <a:rPr lang="en-US" sz="2400" dirty="0" err="1"/>
              <a:t>çoxluqları</a:t>
            </a:r>
            <a:r>
              <a:rPr lang="en-US" sz="2400" dirty="0"/>
              <a:t> </a:t>
            </a:r>
            <a:r>
              <a:rPr lang="en-US" sz="2400" dirty="0" err="1"/>
              <a:t>üzrə</a:t>
            </a:r>
            <a:r>
              <a:rPr lang="en-US" sz="2400" dirty="0"/>
              <a:t> </a:t>
            </a:r>
            <a:r>
              <a:rPr lang="en-US" sz="2400" dirty="0" err="1"/>
              <a:t>müstəqil</a:t>
            </a:r>
            <a:r>
              <a:rPr lang="en-US" sz="2400" dirty="0"/>
              <a:t> </a:t>
            </a:r>
            <a:r>
              <a:rPr lang="en-US" sz="2400" dirty="0" err="1"/>
              <a:t>şəkildə</a:t>
            </a:r>
            <a:r>
              <a:rPr lang="en-US" sz="2400" dirty="0"/>
              <a:t> </a:t>
            </a:r>
            <a:r>
              <a:rPr lang="en-US" sz="2400" dirty="0" err="1"/>
              <a:t>öyrədilir</a:t>
            </a:r>
            <a:r>
              <a:rPr lang="en-US" sz="2400" dirty="0"/>
              <a:t>. </a:t>
            </a:r>
            <a:r>
              <a:rPr lang="en-US" sz="2400" dirty="0" err="1"/>
              <a:t>Onların</a:t>
            </a:r>
            <a:r>
              <a:rPr lang="en-US" sz="2400" dirty="0"/>
              <a:t> </a:t>
            </a:r>
            <a:r>
              <a:rPr lang="en-US" sz="2400" dirty="0" err="1"/>
              <a:t>nəticələri</a:t>
            </a:r>
            <a:r>
              <a:rPr lang="en-US" sz="2400" dirty="0"/>
              <a:t> </a:t>
            </a:r>
            <a:r>
              <a:rPr lang="en-US" sz="2400" dirty="0" err="1"/>
              <a:t>daha</a:t>
            </a:r>
            <a:r>
              <a:rPr lang="en-US" sz="2400" dirty="0"/>
              <a:t> </a:t>
            </a:r>
            <a:r>
              <a:rPr lang="en-US" sz="2400" dirty="0" err="1"/>
              <a:t>sonra</a:t>
            </a:r>
            <a:r>
              <a:rPr lang="en-US" sz="2400" dirty="0"/>
              <a:t> </a:t>
            </a:r>
            <a:r>
              <a:rPr lang="en-US" sz="2400" dirty="0" err="1"/>
              <a:t>birləşdirilir</a:t>
            </a:r>
            <a:r>
              <a:rPr lang="en-US" sz="2400" dirty="0"/>
              <a:t> - </a:t>
            </a:r>
            <a:r>
              <a:rPr lang="en-US" sz="2400" dirty="0" err="1"/>
              <a:t>adətən</a:t>
            </a:r>
            <a:r>
              <a:rPr lang="en-US" sz="2400" dirty="0"/>
              <a:t> </a:t>
            </a:r>
            <a:r>
              <a:rPr lang="en-US" sz="2400" dirty="0" err="1"/>
              <a:t>orta</a:t>
            </a:r>
            <a:r>
              <a:rPr lang="en-US" sz="2400" dirty="0"/>
              <a:t> </a:t>
            </a:r>
            <a:r>
              <a:rPr lang="en-US" sz="2400" dirty="0" err="1"/>
              <a:t>hesablama</a:t>
            </a:r>
            <a:r>
              <a:rPr lang="en-US" sz="2400" dirty="0"/>
              <a:t> (</a:t>
            </a:r>
            <a:r>
              <a:rPr lang="en-US" sz="2400" dirty="0" err="1"/>
              <a:t>reqressiya</a:t>
            </a:r>
            <a:r>
              <a:rPr lang="en-US" sz="2400" dirty="0"/>
              <a:t> </a:t>
            </a:r>
            <a:r>
              <a:rPr lang="en-US" sz="2400" dirty="0" err="1"/>
              <a:t>üçün</a:t>
            </a:r>
            <a:r>
              <a:rPr lang="en-US" sz="2400" dirty="0"/>
              <a:t>) </a:t>
            </a:r>
            <a:r>
              <a:rPr lang="en-US" sz="2400" dirty="0" err="1"/>
              <a:t>və</a:t>
            </a:r>
            <a:r>
              <a:rPr lang="en-US" sz="2400" dirty="0"/>
              <a:t> </a:t>
            </a:r>
            <a:r>
              <a:rPr lang="en-US" sz="2400" dirty="0" err="1"/>
              <a:t>ya</a:t>
            </a:r>
            <a:r>
              <a:rPr lang="en-US" sz="2400" dirty="0"/>
              <a:t> </a:t>
            </a:r>
            <a:r>
              <a:rPr lang="en-US" sz="2400" dirty="0" err="1"/>
              <a:t>səsvermə</a:t>
            </a:r>
            <a:r>
              <a:rPr lang="en-US" sz="2400" dirty="0"/>
              <a:t> (</a:t>
            </a:r>
            <a:r>
              <a:rPr lang="en-US" sz="2400" dirty="0" err="1"/>
              <a:t>təsnifat</a:t>
            </a:r>
            <a:r>
              <a:rPr lang="en-US" sz="2400" dirty="0"/>
              <a:t> </a:t>
            </a:r>
            <a:r>
              <a:rPr lang="en-US" sz="2400" dirty="0" err="1"/>
              <a:t>üçün</a:t>
            </a:r>
            <a:r>
              <a:rPr lang="en-US" sz="2400" dirty="0"/>
              <a:t>). Bu, </a:t>
            </a:r>
            <a:r>
              <a:rPr lang="en-US" sz="2400" dirty="0" err="1"/>
              <a:t>müxtəlifliyi</a:t>
            </a:r>
            <a:r>
              <a:rPr lang="en-US" sz="2400" dirty="0"/>
              <a:t> </a:t>
            </a:r>
            <a:r>
              <a:rPr lang="en-US" sz="2400" dirty="0" err="1"/>
              <a:t>azaltmağa</a:t>
            </a:r>
            <a:r>
              <a:rPr lang="en-US" sz="2400" dirty="0"/>
              <a:t> </a:t>
            </a:r>
            <a:r>
              <a:rPr lang="en-US" sz="2400" dirty="0" err="1"/>
              <a:t>kömək</a:t>
            </a:r>
            <a:r>
              <a:rPr lang="en-US" sz="2400" dirty="0"/>
              <a:t> </a:t>
            </a:r>
            <a:r>
              <a:rPr lang="en-US" sz="2400" dirty="0" err="1"/>
              <a:t>edir</a:t>
            </a:r>
            <a:r>
              <a:rPr lang="en-US" sz="2400" dirty="0"/>
              <a:t> </a:t>
            </a:r>
            <a:r>
              <a:rPr lang="en-US" sz="2400" dirty="0" err="1"/>
              <a:t>və</a:t>
            </a:r>
            <a:r>
              <a:rPr lang="en-US" sz="2400" dirty="0"/>
              <a:t> </a:t>
            </a:r>
            <a:r>
              <a:rPr lang="en-US" sz="2400" dirty="0" err="1"/>
              <a:t>həddindən</a:t>
            </a:r>
            <a:r>
              <a:rPr lang="en-US" sz="2400" dirty="0"/>
              <a:t> </a:t>
            </a:r>
            <a:r>
              <a:rPr lang="en-US" sz="2400" dirty="0" err="1"/>
              <a:t>artıq</a:t>
            </a:r>
            <a:r>
              <a:rPr lang="en-US" sz="2400" dirty="0"/>
              <a:t> </a:t>
            </a:r>
            <a:r>
              <a:rPr lang="en-US" sz="2400" dirty="0" err="1"/>
              <a:t>uyğunlaşmanın</a:t>
            </a:r>
            <a:r>
              <a:rPr lang="en-US" sz="2400" dirty="0"/>
              <a:t> (overfitting) </a:t>
            </a:r>
            <a:r>
              <a:rPr lang="en-US" sz="2400" dirty="0" err="1"/>
              <a:t>qarşısını</a:t>
            </a:r>
            <a:r>
              <a:rPr lang="en-US" sz="2400" dirty="0"/>
              <a:t> </a:t>
            </a:r>
            <a:r>
              <a:rPr lang="en-US" sz="2400" dirty="0" err="1"/>
              <a:t>alır</a:t>
            </a:r>
            <a:r>
              <a:rPr lang="en-US" sz="2400" dirty="0"/>
              <a:t>.</a:t>
            </a:r>
            <a:endParaRPr sz="2400" dirty="0"/>
          </a:p>
        </p:txBody>
      </p:sp>
      <p:sp>
        <p:nvSpPr>
          <p:cNvPr id="271" name="Google Shape;271;p39"/>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Calibri"/>
                <a:ea typeface="Calibri"/>
                <a:cs typeface="Calibri"/>
                <a:sym typeface="Calibri"/>
              </a:rPr>
              <a:t>Ensemble Learning</a:t>
            </a:r>
            <a:endParaRPr sz="2800" dirty="0">
              <a:solidFill>
                <a:schemeClr val="dk1"/>
              </a:solidFill>
              <a:latin typeface="Calibri"/>
              <a:ea typeface="Calibri"/>
              <a:cs typeface="Calibri"/>
              <a:sym typeface="Calibri"/>
            </a:endParaRPr>
          </a:p>
        </p:txBody>
      </p:sp>
      <p:pic>
        <p:nvPicPr>
          <p:cNvPr id="272" name="Google Shape;272;p39"/>
          <p:cNvPicPr preferRelativeResize="0"/>
          <p:nvPr/>
        </p:nvPicPr>
        <p:blipFill rotWithShape="1">
          <a:blip r:embed="rId3">
            <a:alphaModFix/>
          </a:blip>
          <a:srcRect/>
          <a:stretch/>
        </p:blipFill>
        <p:spPr>
          <a:xfrm>
            <a:off x="2676235" y="3025833"/>
            <a:ext cx="6839527" cy="34197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0"/>
          <p:cNvSpPr txBox="1">
            <a:spLocks noGrp="1"/>
          </p:cNvSpPr>
          <p:nvPr>
            <p:ph type="body" idx="1"/>
          </p:nvPr>
        </p:nvSpPr>
        <p:spPr>
          <a:xfrm>
            <a:off x="838199" y="851693"/>
            <a:ext cx="10515600" cy="190385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dirty="0"/>
              <a:t>Boosting</a:t>
            </a:r>
            <a:r>
              <a:rPr lang="en-US" sz="2400" dirty="0"/>
              <a:t> (</a:t>
            </a:r>
            <a:r>
              <a:rPr lang="en-US" sz="2400" dirty="0" err="1"/>
              <a:t>Gücləndirmə</a:t>
            </a:r>
            <a:r>
              <a:rPr lang="en-US" sz="2400" dirty="0"/>
              <a:t>):</a:t>
            </a:r>
            <a:endParaRPr dirty="0"/>
          </a:p>
          <a:p>
            <a:pPr marL="0" lvl="0" indent="0" algn="l" rtl="0">
              <a:lnSpc>
                <a:spcPct val="90000"/>
              </a:lnSpc>
              <a:spcBef>
                <a:spcPts val="1000"/>
              </a:spcBef>
              <a:spcAft>
                <a:spcPts val="0"/>
              </a:spcAft>
              <a:buClr>
                <a:schemeClr val="dk1"/>
              </a:buClr>
              <a:buSzPts val="2400"/>
              <a:buNone/>
            </a:pPr>
            <a:r>
              <a:rPr lang="en-US" sz="2400" dirty="0" err="1"/>
              <a:t>Modellər</a:t>
            </a:r>
            <a:r>
              <a:rPr lang="en-US" sz="2400" dirty="0"/>
              <a:t> </a:t>
            </a:r>
            <a:r>
              <a:rPr lang="en-US" sz="2400" dirty="0" err="1"/>
              <a:t>bir-birinin</a:t>
            </a:r>
            <a:r>
              <a:rPr lang="en-US" sz="2400" dirty="0"/>
              <a:t> </a:t>
            </a:r>
            <a:r>
              <a:rPr lang="en-US" sz="2400" dirty="0" err="1"/>
              <a:t>ardınca</a:t>
            </a:r>
            <a:r>
              <a:rPr lang="en-US" sz="2400" dirty="0"/>
              <a:t> </a:t>
            </a:r>
            <a:r>
              <a:rPr lang="en-US" sz="2400" dirty="0" err="1"/>
              <a:t>öyrədilir</a:t>
            </a:r>
            <a:r>
              <a:rPr lang="en-US" sz="2400" dirty="0"/>
              <a:t>. </a:t>
            </a:r>
            <a:r>
              <a:rPr lang="en-US" sz="2400" dirty="0" err="1"/>
              <a:t>Hər</a:t>
            </a:r>
            <a:r>
              <a:rPr lang="en-US" sz="2400" dirty="0"/>
              <a:t> </a:t>
            </a:r>
            <a:r>
              <a:rPr lang="en-US" sz="2400" dirty="0" err="1"/>
              <a:t>bir</a:t>
            </a:r>
            <a:r>
              <a:rPr lang="en-US" sz="2400" dirty="0"/>
              <a:t> yeni model </a:t>
            </a:r>
            <a:r>
              <a:rPr lang="en-US" sz="2400" dirty="0" err="1"/>
              <a:t>əvvəlkilərin</a:t>
            </a:r>
            <a:r>
              <a:rPr lang="en-US" sz="2400" dirty="0"/>
              <a:t> </a:t>
            </a:r>
            <a:r>
              <a:rPr lang="en-US" sz="2400" dirty="0" err="1"/>
              <a:t>səhvlərini</a:t>
            </a:r>
            <a:r>
              <a:rPr lang="en-US" sz="2400" dirty="0"/>
              <a:t> </a:t>
            </a:r>
            <a:r>
              <a:rPr lang="en-US" sz="2400" dirty="0" err="1"/>
              <a:t>düzəltməyə</a:t>
            </a:r>
            <a:r>
              <a:rPr lang="en-US" sz="2400" dirty="0"/>
              <a:t> </a:t>
            </a:r>
            <a:r>
              <a:rPr lang="en-US" sz="2400" dirty="0" err="1"/>
              <a:t>fokuslanır</a:t>
            </a:r>
            <a:r>
              <a:rPr lang="en-US" sz="2400" dirty="0"/>
              <a:t>. Yekun </a:t>
            </a:r>
            <a:r>
              <a:rPr lang="en-US" sz="2400" dirty="0" err="1"/>
              <a:t>proqnoz</a:t>
            </a:r>
            <a:r>
              <a:rPr lang="en-US" sz="2400" dirty="0"/>
              <a:t> </a:t>
            </a:r>
            <a:r>
              <a:rPr lang="en-US" sz="2400" dirty="0" err="1"/>
              <a:t>bütün</a:t>
            </a:r>
            <a:r>
              <a:rPr lang="en-US" sz="2400" dirty="0"/>
              <a:t> </a:t>
            </a:r>
            <a:r>
              <a:rPr lang="en-US" sz="2400" dirty="0" err="1"/>
              <a:t>modellərin</a:t>
            </a:r>
            <a:r>
              <a:rPr lang="en-US" sz="2400" dirty="0"/>
              <a:t> </a:t>
            </a:r>
            <a:r>
              <a:rPr lang="en-US" sz="2400" dirty="0" err="1"/>
              <a:t>çəkili</a:t>
            </a:r>
            <a:r>
              <a:rPr lang="en-US" sz="2400" dirty="0"/>
              <a:t> </a:t>
            </a:r>
            <a:r>
              <a:rPr lang="en-US" sz="2400" dirty="0" err="1"/>
              <a:t>birləşməsidir</a:t>
            </a:r>
            <a:r>
              <a:rPr lang="en-US" sz="2400" dirty="0"/>
              <a:t> ki, </a:t>
            </a:r>
            <a:r>
              <a:rPr lang="en-US" sz="2400" dirty="0" err="1"/>
              <a:t>bu</a:t>
            </a:r>
            <a:r>
              <a:rPr lang="en-US" sz="2400" dirty="0"/>
              <a:t> da </a:t>
            </a:r>
            <a:r>
              <a:rPr lang="en-US" sz="2400" dirty="0" err="1"/>
              <a:t>qərəzliyi</a:t>
            </a:r>
            <a:r>
              <a:rPr lang="en-US" sz="2400" dirty="0"/>
              <a:t> </a:t>
            </a:r>
            <a:r>
              <a:rPr lang="en-US" sz="2400" dirty="0" err="1"/>
              <a:t>azaltmağa</a:t>
            </a:r>
            <a:r>
              <a:rPr lang="en-US" sz="2400" dirty="0"/>
              <a:t> (overfitting) </a:t>
            </a:r>
            <a:r>
              <a:rPr lang="en-US" sz="2400" dirty="0" err="1"/>
              <a:t>və</a:t>
            </a:r>
            <a:r>
              <a:rPr lang="en-US" sz="2400" dirty="0"/>
              <a:t> </a:t>
            </a:r>
            <a:r>
              <a:rPr lang="en-US" sz="2400" dirty="0" err="1"/>
              <a:t>dəqiqliyi</a:t>
            </a:r>
            <a:r>
              <a:rPr lang="en-US" sz="2400" dirty="0"/>
              <a:t> </a:t>
            </a:r>
            <a:r>
              <a:rPr lang="en-US" sz="2400" dirty="0" err="1"/>
              <a:t>artırmağa</a:t>
            </a:r>
            <a:r>
              <a:rPr lang="en-US" sz="2400" dirty="0"/>
              <a:t> </a:t>
            </a:r>
            <a:r>
              <a:rPr lang="en-US" sz="2400" dirty="0" err="1"/>
              <a:t>kömək</a:t>
            </a:r>
            <a:r>
              <a:rPr lang="en-US" sz="2400" dirty="0"/>
              <a:t> </a:t>
            </a:r>
            <a:r>
              <a:rPr lang="en-US" sz="2400" dirty="0" err="1"/>
              <a:t>edir</a:t>
            </a:r>
            <a:r>
              <a:rPr lang="en-US" sz="2400" dirty="0"/>
              <a:t>.</a:t>
            </a:r>
            <a:endParaRPr sz="2400" dirty="0"/>
          </a:p>
        </p:txBody>
      </p:sp>
      <p:sp>
        <p:nvSpPr>
          <p:cNvPr id="278" name="Google Shape;278;p40"/>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Ensemble Learning</a:t>
            </a:r>
            <a:endParaRPr sz="2800">
              <a:solidFill>
                <a:schemeClr val="dk1"/>
              </a:solidFill>
              <a:latin typeface="Calibri"/>
              <a:ea typeface="Calibri"/>
              <a:cs typeface="Calibri"/>
              <a:sym typeface="Calibri"/>
            </a:endParaRPr>
          </a:p>
        </p:txBody>
      </p:sp>
      <p:pic>
        <p:nvPicPr>
          <p:cNvPr id="279" name="Google Shape;279;p40"/>
          <p:cNvPicPr preferRelativeResize="0"/>
          <p:nvPr/>
        </p:nvPicPr>
        <p:blipFill rotWithShape="1">
          <a:blip r:embed="rId3">
            <a:alphaModFix/>
          </a:blip>
          <a:srcRect/>
          <a:stretch/>
        </p:blipFill>
        <p:spPr>
          <a:xfrm>
            <a:off x="2676236" y="3084022"/>
            <a:ext cx="6839526" cy="341976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1"/>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Ensemble Learning</a:t>
            </a:r>
            <a:endParaRPr sz="2800">
              <a:solidFill>
                <a:schemeClr val="dk1"/>
              </a:solidFill>
              <a:latin typeface="Calibri"/>
              <a:ea typeface="Calibri"/>
              <a:cs typeface="Calibri"/>
              <a:sym typeface="Calibri"/>
            </a:endParaRPr>
          </a:p>
        </p:txBody>
      </p:sp>
      <p:pic>
        <p:nvPicPr>
          <p:cNvPr id="285" name="Google Shape;285;p41"/>
          <p:cNvPicPr preferRelativeResize="0"/>
          <p:nvPr/>
        </p:nvPicPr>
        <p:blipFill rotWithShape="1">
          <a:blip r:embed="rId3">
            <a:alphaModFix/>
          </a:blip>
          <a:srcRect t="9467"/>
          <a:stretch/>
        </p:blipFill>
        <p:spPr>
          <a:xfrm>
            <a:off x="5452264" y="964276"/>
            <a:ext cx="4403474" cy="5569045"/>
          </a:xfrm>
          <a:prstGeom prst="rect">
            <a:avLst/>
          </a:prstGeom>
          <a:noFill/>
          <a:ln>
            <a:noFill/>
          </a:ln>
        </p:spPr>
      </p:pic>
      <p:pic>
        <p:nvPicPr>
          <p:cNvPr id="286" name="Google Shape;286;p41"/>
          <p:cNvPicPr preferRelativeResize="0"/>
          <p:nvPr/>
        </p:nvPicPr>
        <p:blipFill rotWithShape="1">
          <a:blip r:embed="rId4">
            <a:alphaModFix/>
          </a:blip>
          <a:srcRect l="3689" t="8455" r="51283" b="7885"/>
          <a:stretch/>
        </p:blipFill>
        <p:spPr>
          <a:xfrm>
            <a:off x="2152997" y="964276"/>
            <a:ext cx="2593571" cy="2710621"/>
          </a:xfrm>
          <a:prstGeom prst="rect">
            <a:avLst/>
          </a:prstGeom>
          <a:noFill/>
          <a:ln>
            <a:noFill/>
          </a:ln>
        </p:spPr>
      </p:pic>
      <p:pic>
        <p:nvPicPr>
          <p:cNvPr id="287" name="Google Shape;287;p41"/>
          <p:cNvPicPr preferRelativeResize="0"/>
          <p:nvPr/>
        </p:nvPicPr>
        <p:blipFill rotWithShape="1">
          <a:blip r:embed="rId4">
            <a:alphaModFix/>
          </a:blip>
          <a:srcRect l="51283" t="7771" r="3690" b="8567"/>
          <a:stretch/>
        </p:blipFill>
        <p:spPr>
          <a:xfrm>
            <a:off x="2152997" y="3674897"/>
            <a:ext cx="2593571" cy="271062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2"/>
          <p:cNvSpPr txBox="1">
            <a:spLocks noGrp="1"/>
          </p:cNvSpPr>
          <p:nvPr>
            <p:ph type="body" idx="1"/>
          </p:nvPr>
        </p:nvSpPr>
        <p:spPr>
          <a:xfrm>
            <a:off x="838199" y="851693"/>
            <a:ext cx="10515600" cy="190385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a:t>Stacking</a:t>
            </a:r>
            <a:r>
              <a:rPr lang="en-US" sz="2400"/>
              <a:t> (Yığma):</a:t>
            </a:r>
            <a:endParaRPr/>
          </a:p>
          <a:p>
            <a:pPr marL="0" lvl="0" indent="0" algn="l" rtl="0">
              <a:lnSpc>
                <a:spcPct val="90000"/>
              </a:lnSpc>
              <a:spcBef>
                <a:spcPts val="1000"/>
              </a:spcBef>
              <a:spcAft>
                <a:spcPts val="0"/>
              </a:spcAft>
              <a:buClr>
                <a:schemeClr val="dk1"/>
              </a:buClr>
              <a:buSzPts val="2400"/>
              <a:buNone/>
            </a:pPr>
            <a:r>
              <a:rPr lang="en-US" sz="2400"/>
              <a:t>Çoxsaylı müxtəlif modellər (çox vaxt müxtəlif növlər) öyrədilir və onların proqnozları meta-model adlanan son model üçün giriş kimi istifadə olunur. Meta-model hər hansı fərdi modeldən daha yaxşı performansa nail olmaq üçün əsas modellərin proqnozlarını ən yaxşı şəkildə birləşdirməyi öyrənir.</a:t>
            </a:r>
            <a:endParaRPr sz="2400"/>
          </a:p>
        </p:txBody>
      </p:sp>
      <p:sp>
        <p:nvSpPr>
          <p:cNvPr id="293" name="Google Shape;293;p42"/>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Ensemble Learning</a:t>
            </a:r>
            <a:endParaRPr sz="2800">
              <a:solidFill>
                <a:schemeClr val="dk1"/>
              </a:solidFill>
              <a:latin typeface="Calibri"/>
              <a:ea typeface="Calibri"/>
              <a:cs typeface="Calibri"/>
              <a:sym typeface="Calibri"/>
            </a:endParaRPr>
          </a:p>
        </p:txBody>
      </p:sp>
      <p:pic>
        <p:nvPicPr>
          <p:cNvPr id="294" name="Google Shape;294;p42"/>
          <p:cNvPicPr preferRelativeResize="0"/>
          <p:nvPr/>
        </p:nvPicPr>
        <p:blipFill rotWithShape="1">
          <a:blip r:embed="rId3">
            <a:alphaModFix/>
          </a:blip>
          <a:srcRect/>
          <a:stretch/>
        </p:blipFill>
        <p:spPr>
          <a:xfrm>
            <a:off x="2676236" y="3084022"/>
            <a:ext cx="6839525" cy="341976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3"/>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Ensemble Learning</a:t>
            </a:r>
            <a:endParaRPr sz="2800">
              <a:solidFill>
                <a:schemeClr val="dk1"/>
              </a:solidFill>
              <a:latin typeface="Calibri"/>
              <a:ea typeface="Calibri"/>
              <a:cs typeface="Calibri"/>
              <a:sym typeface="Calibri"/>
            </a:endParaRPr>
          </a:p>
        </p:txBody>
      </p:sp>
      <p:pic>
        <p:nvPicPr>
          <p:cNvPr id="300" name="Google Shape;300;p43"/>
          <p:cNvPicPr preferRelativeResize="0"/>
          <p:nvPr/>
        </p:nvPicPr>
        <p:blipFill rotWithShape="1">
          <a:blip r:embed="rId3">
            <a:alphaModFix/>
          </a:blip>
          <a:srcRect/>
          <a:stretch/>
        </p:blipFill>
        <p:spPr>
          <a:xfrm>
            <a:off x="666922" y="2071730"/>
            <a:ext cx="10858156" cy="271453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4"/>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Ensemble Learning</a:t>
            </a:r>
            <a:endParaRPr sz="2800">
              <a:solidFill>
                <a:schemeClr val="dk1"/>
              </a:solidFill>
              <a:latin typeface="Calibri"/>
              <a:ea typeface="Calibri"/>
              <a:cs typeface="Calibri"/>
              <a:sym typeface="Calibri"/>
            </a:endParaRPr>
          </a:p>
        </p:txBody>
      </p:sp>
      <p:pic>
        <p:nvPicPr>
          <p:cNvPr id="306" name="Google Shape;306;p44"/>
          <p:cNvPicPr preferRelativeResize="0"/>
          <p:nvPr/>
        </p:nvPicPr>
        <p:blipFill rotWithShape="1">
          <a:blip r:embed="rId3">
            <a:alphaModFix/>
          </a:blip>
          <a:srcRect/>
          <a:stretch/>
        </p:blipFill>
        <p:spPr>
          <a:xfrm>
            <a:off x="154286" y="1429789"/>
            <a:ext cx="11883427" cy="399842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graphicFrame>
        <p:nvGraphicFramePr>
          <p:cNvPr id="311" name="Google Shape;311;p45"/>
          <p:cNvGraphicFramePr/>
          <p:nvPr>
            <p:extLst>
              <p:ext uri="{D42A27DB-BD31-4B8C-83A1-F6EECF244321}">
                <p14:modId xmlns:p14="http://schemas.microsoft.com/office/powerpoint/2010/main" val="737067751"/>
              </p:ext>
            </p:extLst>
          </p:nvPr>
        </p:nvGraphicFramePr>
        <p:xfrm>
          <a:off x="1271715" y="1669106"/>
          <a:ext cx="9648575" cy="3230960"/>
        </p:xfrm>
        <a:graphic>
          <a:graphicData uri="http://schemas.openxmlformats.org/drawingml/2006/table">
            <a:tbl>
              <a:tblPr firstRow="1" bandRow="1">
                <a:noFill/>
                <a:tableStyleId>{0058FCE0-8840-423D-97B8-CAC1A712816E}</a:tableStyleId>
              </a:tblPr>
              <a:tblGrid>
                <a:gridCol w="2564025">
                  <a:extLst>
                    <a:ext uri="{9D8B030D-6E8A-4147-A177-3AD203B41FA5}">
                      <a16:colId xmlns:a16="http://schemas.microsoft.com/office/drawing/2014/main" val="20000"/>
                    </a:ext>
                  </a:extLst>
                </a:gridCol>
                <a:gridCol w="1565200">
                  <a:extLst>
                    <a:ext uri="{9D8B030D-6E8A-4147-A177-3AD203B41FA5}">
                      <a16:colId xmlns:a16="http://schemas.microsoft.com/office/drawing/2014/main" val="20001"/>
                    </a:ext>
                  </a:extLst>
                </a:gridCol>
                <a:gridCol w="2421925">
                  <a:extLst>
                    <a:ext uri="{9D8B030D-6E8A-4147-A177-3AD203B41FA5}">
                      <a16:colId xmlns:a16="http://schemas.microsoft.com/office/drawing/2014/main" val="20002"/>
                    </a:ext>
                  </a:extLst>
                </a:gridCol>
                <a:gridCol w="1309825">
                  <a:extLst>
                    <a:ext uri="{9D8B030D-6E8A-4147-A177-3AD203B41FA5}">
                      <a16:colId xmlns:a16="http://schemas.microsoft.com/office/drawing/2014/main" val="20003"/>
                    </a:ext>
                  </a:extLst>
                </a:gridCol>
                <a:gridCol w="1787600">
                  <a:extLst>
                    <a:ext uri="{9D8B030D-6E8A-4147-A177-3AD203B41FA5}">
                      <a16:colId xmlns:a16="http://schemas.microsoft.com/office/drawing/2014/main" val="20004"/>
                    </a:ext>
                  </a:extLst>
                </a:gridCol>
              </a:tblGrid>
              <a:tr h="370850">
                <a:tc>
                  <a:txBody>
                    <a:bodyPr/>
                    <a:lstStyle/>
                    <a:p>
                      <a:pPr marL="0" marR="0" lvl="0" indent="0" algn="ctr" rtl="0">
                        <a:spcBef>
                          <a:spcPts val="0"/>
                        </a:spcBef>
                        <a:spcAft>
                          <a:spcPts val="0"/>
                        </a:spcAft>
                        <a:buNone/>
                      </a:pPr>
                      <a:r>
                        <a:rPr lang="en-US" sz="1800" u="none" strike="noStrike" cap="none"/>
                        <a:t>Alqoritma</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Outlier həssaslığı</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Kateqorik dəyişənləri kodlaşdırılması</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Data Scaling</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Multicollinearity həssaslığı</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u="none" strike="noStrike" cap="none" dirty="0"/>
                        <a:t>GLM</a:t>
                      </a:r>
                      <a:endParaRPr dirty="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dirty="0" err="1"/>
                        <a:t>Çox</a:t>
                      </a:r>
                      <a:r>
                        <a:rPr lang="en-US" sz="1800" dirty="0"/>
                        <a:t> </a:t>
                      </a:r>
                      <a:r>
                        <a:rPr lang="en-US" sz="1800" dirty="0" err="1"/>
                        <a:t>yüksək</a:t>
                      </a:r>
                      <a:endParaRPr dirty="0"/>
                    </a:p>
                  </a:txBody>
                  <a:tcPr marL="91450" marR="91450" marT="45725" marB="45725"/>
                </a:tc>
                <a:tc>
                  <a:txBody>
                    <a:bodyPr/>
                    <a:lstStyle/>
                    <a:p>
                      <a:pPr marL="0" marR="0" lvl="0" indent="0" algn="l" rtl="0">
                        <a:spcBef>
                          <a:spcPts val="0"/>
                        </a:spcBef>
                        <a:spcAft>
                          <a:spcPts val="0"/>
                        </a:spcAft>
                        <a:buNone/>
                      </a:pPr>
                      <a:r>
                        <a:rPr lang="en-US" sz="1800" dirty="0" err="1"/>
                        <a:t>Lazımdır</a:t>
                      </a:r>
                      <a:endParaRPr dirty="0"/>
                    </a:p>
                  </a:txBody>
                  <a:tcPr marL="91450" marR="91450" marT="45725" marB="45725"/>
                </a:tc>
                <a:tc>
                  <a:txBody>
                    <a:bodyPr/>
                    <a:lstStyle/>
                    <a:p>
                      <a:pPr marL="0" marR="0" lvl="0" indent="0" algn="l" rtl="0">
                        <a:spcBef>
                          <a:spcPts val="0"/>
                        </a:spcBef>
                        <a:spcAft>
                          <a:spcPts val="0"/>
                        </a:spcAft>
                        <a:buNone/>
                      </a:pPr>
                      <a:r>
                        <a:rPr lang="en-US" sz="1800" dirty="0" err="1"/>
                        <a:t>Lazımdır</a:t>
                      </a:r>
                      <a:endParaRPr dirty="0"/>
                    </a:p>
                  </a:txBody>
                  <a:tcPr marL="91450" marR="91450" marT="45725" marB="45725"/>
                </a:tc>
                <a:tc>
                  <a:txBody>
                    <a:bodyPr/>
                    <a:lstStyle/>
                    <a:p>
                      <a:pPr marL="0" marR="0" lvl="0" indent="0" algn="l" rtl="0">
                        <a:spcBef>
                          <a:spcPts val="0"/>
                        </a:spcBef>
                        <a:spcAft>
                          <a:spcPts val="0"/>
                        </a:spcAft>
                        <a:buNone/>
                      </a:pPr>
                      <a:r>
                        <a:rPr lang="en-US" sz="1800" dirty="0" err="1"/>
                        <a:t>Çox</a:t>
                      </a:r>
                      <a:r>
                        <a:rPr lang="en-US" sz="1800" dirty="0"/>
                        <a:t> </a:t>
                      </a:r>
                      <a:r>
                        <a:rPr lang="en-US" sz="1800" dirty="0" err="1"/>
                        <a:t>yüksək</a:t>
                      </a:r>
                      <a:endParaRPr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dirty="0"/>
                        <a:t>KNN</a:t>
                      </a:r>
                      <a:endParaRPr dirty="0"/>
                    </a:p>
                  </a:txBody>
                  <a:tcPr marL="91450" marR="91450" marT="45725" marB="45725"/>
                </a:tc>
                <a:tc>
                  <a:txBody>
                    <a:bodyPr/>
                    <a:lstStyle/>
                    <a:p>
                      <a:pPr marL="0" marR="0" lvl="0" indent="0" algn="l" rtl="0">
                        <a:spcBef>
                          <a:spcPts val="0"/>
                        </a:spcBef>
                        <a:spcAft>
                          <a:spcPts val="0"/>
                        </a:spcAft>
                        <a:buNone/>
                      </a:pPr>
                      <a:r>
                        <a:rPr lang="en-US" sz="1800" dirty="0" err="1"/>
                        <a:t>Çox</a:t>
                      </a:r>
                      <a:r>
                        <a:rPr lang="en-US" sz="1800" dirty="0"/>
                        <a:t> </a:t>
                      </a:r>
                      <a:r>
                        <a:rPr lang="en-US" sz="1800" dirty="0" err="1"/>
                        <a:t>yüksək</a:t>
                      </a:r>
                      <a:endParaRPr dirty="0"/>
                    </a:p>
                  </a:txBody>
                  <a:tcPr marL="91450" marR="91450" marT="45725" marB="45725"/>
                </a:tc>
                <a:tc>
                  <a:txBody>
                    <a:bodyPr/>
                    <a:lstStyle/>
                    <a:p>
                      <a:pPr marL="0" marR="0" lvl="0" indent="0" algn="l" rtl="0">
                        <a:spcBef>
                          <a:spcPts val="0"/>
                        </a:spcBef>
                        <a:spcAft>
                          <a:spcPts val="0"/>
                        </a:spcAft>
                        <a:buNone/>
                      </a:pPr>
                      <a:r>
                        <a:rPr lang="en-US" sz="1800" dirty="0" err="1"/>
                        <a:t>Lazımdır</a:t>
                      </a:r>
                      <a:endParaRPr dirty="0"/>
                    </a:p>
                  </a:txBody>
                  <a:tcPr marL="91450" marR="91450" marT="45725" marB="45725"/>
                </a:tc>
                <a:tc>
                  <a:txBody>
                    <a:bodyPr/>
                    <a:lstStyle/>
                    <a:p>
                      <a:pPr marL="0" marR="0" lvl="0" indent="0" algn="l" rtl="0">
                        <a:spcBef>
                          <a:spcPts val="0"/>
                        </a:spcBef>
                        <a:spcAft>
                          <a:spcPts val="0"/>
                        </a:spcAft>
                        <a:buNone/>
                      </a:pPr>
                      <a:r>
                        <a:rPr lang="en-US" sz="1800" dirty="0" err="1"/>
                        <a:t>Lazımdır</a:t>
                      </a:r>
                      <a:endParaRPr dirty="0"/>
                    </a:p>
                  </a:txBody>
                  <a:tcPr marL="91450" marR="91450" marT="45725" marB="45725"/>
                </a:tc>
                <a:tc>
                  <a:txBody>
                    <a:bodyPr/>
                    <a:lstStyle/>
                    <a:p>
                      <a:pPr marL="0" marR="0" lvl="0" indent="0" algn="l" rtl="0">
                        <a:spcBef>
                          <a:spcPts val="0"/>
                        </a:spcBef>
                        <a:spcAft>
                          <a:spcPts val="0"/>
                        </a:spcAft>
                        <a:buNone/>
                      </a:pPr>
                      <a:r>
                        <a:rPr lang="en-US" sz="1800" dirty="0"/>
                        <a:t>Az</a:t>
                      </a:r>
                      <a:endParaRPr dirty="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Naive Bayes</a:t>
                      </a:r>
                      <a:endParaRPr/>
                    </a:p>
                  </a:txBody>
                  <a:tcPr marL="91450" marR="91450" marT="45725" marB="45725"/>
                </a:tc>
                <a:tc>
                  <a:txBody>
                    <a:bodyPr/>
                    <a:lstStyle/>
                    <a:p>
                      <a:pPr marL="0" marR="0" lvl="0" indent="0" algn="l" rtl="0">
                        <a:spcBef>
                          <a:spcPts val="0"/>
                        </a:spcBef>
                        <a:spcAft>
                          <a:spcPts val="0"/>
                        </a:spcAft>
                        <a:buNone/>
                      </a:pPr>
                      <a:r>
                        <a:rPr lang="en-US" sz="1800" dirty="0"/>
                        <a:t>Az</a:t>
                      </a:r>
                      <a:endParaRPr dirty="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dirty="0" err="1"/>
                        <a:t>Lazım</a:t>
                      </a:r>
                      <a:r>
                        <a:rPr lang="en-US" sz="1800" dirty="0"/>
                        <a:t> </a:t>
                      </a:r>
                      <a:r>
                        <a:rPr lang="en-US" sz="1800" dirty="0" err="1"/>
                        <a:t>deyil</a:t>
                      </a:r>
                      <a:endParaRPr dirty="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dirty="0" err="1"/>
                        <a:t>Lazım</a:t>
                      </a:r>
                      <a:r>
                        <a:rPr lang="en-US" sz="1800" dirty="0"/>
                        <a:t> </a:t>
                      </a:r>
                      <a:r>
                        <a:rPr lang="en-US" sz="1800" dirty="0" err="1"/>
                        <a:t>deyil</a:t>
                      </a:r>
                      <a:endParaRPr dirty="0"/>
                    </a:p>
                  </a:txBody>
                  <a:tcPr marL="91450" marR="91450" marT="45725" marB="45725"/>
                </a:tc>
                <a:tc>
                  <a:txBody>
                    <a:bodyPr/>
                    <a:lstStyle/>
                    <a:p>
                      <a:pPr marL="0" marR="0" lvl="0" indent="0" algn="l" rtl="0">
                        <a:spcBef>
                          <a:spcPts val="0"/>
                        </a:spcBef>
                        <a:spcAft>
                          <a:spcPts val="0"/>
                        </a:spcAft>
                        <a:buNone/>
                      </a:pPr>
                      <a:r>
                        <a:rPr lang="en-US" sz="1800" dirty="0"/>
                        <a:t>Orta</a:t>
                      </a:r>
                      <a:endParaRPr dirty="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dirty="0"/>
                        <a:t>SVM</a:t>
                      </a:r>
                      <a:endParaRPr dirty="0"/>
                    </a:p>
                  </a:txBody>
                  <a:tcPr marL="91450" marR="91450" marT="45725" marB="45725"/>
                </a:tc>
                <a:tc>
                  <a:txBody>
                    <a:bodyPr/>
                    <a:lstStyle/>
                    <a:p>
                      <a:pPr marL="0" marR="0" lvl="0" indent="0" algn="l" rtl="0">
                        <a:spcBef>
                          <a:spcPts val="0"/>
                        </a:spcBef>
                        <a:spcAft>
                          <a:spcPts val="0"/>
                        </a:spcAft>
                        <a:buNone/>
                      </a:pPr>
                      <a:r>
                        <a:rPr lang="en-US" sz="1800" dirty="0" err="1"/>
                        <a:t>Yüksək</a:t>
                      </a:r>
                      <a:endParaRPr dirty="0"/>
                    </a:p>
                  </a:txBody>
                  <a:tcPr marL="91450" marR="91450" marT="45725" marB="45725"/>
                </a:tc>
                <a:tc>
                  <a:txBody>
                    <a:bodyPr/>
                    <a:lstStyle/>
                    <a:p>
                      <a:pPr marL="0" marR="0" lvl="0" indent="0" algn="l" rtl="0">
                        <a:spcBef>
                          <a:spcPts val="0"/>
                        </a:spcBef>
                        <a:spcAft>
                          <a:spcPts val="0"/>
                        </a:spcAft>
                        <a:buNone/>
                      </a:pPr>
                      <a:r>
                        <a:rPr lang="en-US" sz="1800" dirty="0" err="1"/>
                        <a:t>Lazımdır</a:t>
                      </a:r>
                      <a:endParaRPr dirty="0"/>
                    </a:p>
                  </a:txBody>
                  <a:tcPr marL="91450" marR="91450" marT="45725" marB="45725"/>
                </a:tc>
                <a:tc>
                  <a:txBody>
                    <a:bodyPr/>
                    <a:lstStyle/>
                    <a:p>
                      <a:pPr marL="0" marR="0" lvl="0" indent="0" algn="l" rtl="0">
                        <a:spcBef>
                          <a:spcPts val="0"/>
                        </a:spcBef>
                        <a:spcAft>
                          <a:spcPts val="0"/>
                        </a:spcAft>
                        <a:buNone/>
                      </a:pPr>
                      <a:r>
                        <a:rPr lang="en-US" sz="1800" dirty="0" err="1"/>
                        <a:t>Lazımdır</a:t>
                      </a:r>
                      <a:endParaRPr dirty="0"/>
                    </a:p>
                  </a:txBody>
                  <a:tcPr marL="91450" marR="91450" marT="45725" marB="45725"/>
                </a:tc>
                <a:tc>
                  <a:txBody>
                    <a:bodyPr/>
                    <a:lstStyle/>
                    <a:p>
                      <a:pPr marL="0" marR="0" lvl="0" indent="0" algn="l" rtl="0">
                        <a:spcBef>
                          <a:spcPts val="0"/>
                        </a:spcBef>
                        <a:spcAft>
                          <a:spcPts val="0"/>
                        </a:spcAft>
                        <a:buNone/>
                      </a:pPr>
                      <a:r>
                        <a:rPr lang="en-US" sz="1800" dirty="0" err="1"/>
                        <a:t>Yüksək</a:t>
                      </a:r>
                      <a:endParaRPr dirty="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dirty="0"/>
                        <a:t>Decision Tree</a:t>
                      </a:r>
                      <a:endParaRPr dirty="0"/>
                    </a:p>
                  </a:txBody>
                  <a:tcPr marL="91450" marR="91450" marT="45725" marB="45725"/>
                </a:tc>
                <a:tc>
                  <a:txBody>
                    <a:bodyPr/>
                    <a:lstStyle/>
                    <a:p>
                      <a:pPr marL="0" marR="0" lvl="0" indent="0" algn="l" rtl="0">
                        <a:spcBef>
                          <a:spcPts val="0"/>
                        </a:spcBef>
                        <a:spcAft>
                          <a:spcPts val="0"/>
                        </a:spcAft>
                        <a:buNone/>
                      </a:pPr>
                      <a:r>
                        <a:rPr lang="en-US" sz="1800" dirty="0" err="1"/>
                        <a:t>Çox</a:t>
                      </a:r>
                      <a:r>
                        <a:rPr lang="en-US" sz="1800" dirty="0"/>
                        <a:t> </a:t>
                      </a:r>
                      <a:r>
                        <a:rPr lang="en-US" sz="1800" dirty="0" err="1"/>
                        <a:t>az</a:t>
                      </a:r>
                      <a:endParaRPr dirty="0"/>
                    </a:p>
                  </a:txBody>
                  <a:tcPr marL="91450" marR="91450" marT="45725" marB="45725"/>
                </a:tc>
                <a:tc>
                  <a:txBody>
                    <a:bodyPr/>
                    <a:lstStyle/>
                    <a:p>
                      <a:pPr marL="0" marR="0" lvl="0" indent="0" algn="l" rtl="0">
                        <a:spcBef>
                          <a:spcPts val="0"/>
                        </a:spcBef>
                        <a:spcAft>
                          <a:spcPts val="0"/>
                        </a:spcAft>
                        <a:buNone/>
                      </a:pPr>
                      <a:r>
                        <a:rPr lang="en-US" sz="1800"/>
                        <a:t>Lazım deyil</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Lazım deyil</a:t>
                      </a:r>
                      <a:endParaRPr/>
                    </a:p>
                  </a:txBody>
                  <a:tcPr marL="91450" marR="91450" marT="45725" marB="45725"/>
                </a:tc>
                <a:tc>
                  <a:txBody>
                    <a:bodyPr/>
                    <a:lstStyle/>
                    <a:p>
                      <a:pPr marL="0" marR="0" lvl="0" indent="0" algn="l" rtl="0">
                        <a:spcBef>
                          <a:spcPts val="0"/>
                        </a:spcBef>
                        <a:spcAft>
                          <a:spcPts val="0"/>
                        </a:spcAft>
                        <a:buNone/>
                      </a:pPr>
                      <a:r>
                        <a:rPr lang="en-US" sz="1800" dirty="0" err="1"/>
                        <a:t>Çox</a:t>
                      </a:r>
                      <a:r>
                        <a:rPr lang="en-US" sz="1800" dirty="0"/>
                        <a:t> </a:t>
                      </a:r>
                      <a:r>
                        <a:rPr lang="en-US" sz="1800" dirty="0" err="1"/>
                        <a:t>az</a:t>
                      </a:r>
                      <a:endParaRPr dirty="0"/>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dirty="0"/>
                        <a:t>Random Forest (Bagging)</a:t>
                      </a:r>
                      <a:endParaRPr dirty="0"/>
                    </a:p>
                  </a:txBody>
                  <a:tcPr marL="91450" marR="91450" marT="45725" marB="45725"/>
                </a:tc>
                <a:tc>
                  <a:txBody>
                    <a:bodyPr/>
                    <a:lstStyle/>
                    <a:p>
                      <a:pPr marL="0" marR="0" lvl="0" indent="0" algn="l" rtl="0">
                        <a:spcBef>
                          <a:spcPts val="0"/>
                        </a:spcBef>
                        <a:spcAft>
                          <a:spcPts val="0"/>
                        </a:spcAft>
                        <a:buNone/>
                      </a:pPr>
                      <a:r>
                        <a:rPr lang="en-US" sz="1800" dirty="0" err="1"/>
                        <a:t>Çox</a:t>
                      </a:r>
                      <a:r>
                        <a:rPr lang="en-US" sz="1800" dirty="0"/>
                        <a:t> </a:t>
                      </a:r>
                      <a:r>
                        <a:rPr lang="en-US" sz="1800" dirty="0" err="1"/>
                        <a:t>dayanıqlı</a:t>
                      </a:r>
                      <a:endParaRPr dirty="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Lazım deyil</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Lazım deyil</a:t>
                      </a:r>
                      <a:endParaRPr/>
                    </a:p>
                  </a:txBody>
                  <a:tcPr marL="91450" marR="91450" marT="45725" marB="45725"/>
                </a:tc>
                <a:tc>
                  <a:txBody>
                    <a:bodyPr/>
                    <a:lstStyle/>
                    <a:p>
                      <a:pPr marL="0" marR="0" lvl="0" indent="0" algn="l" rtl="0">
                        <a:spcBef>
                          <a:spcPts val="0"/>
                        </a:spcBef>
                        <a:spcAft>
                          <a:spcPts val="0"/>
                        </a:spcAft>
                        <a:buNone/>
                      </a:pPr>
                      <a:r>
                        <a:rPr lang="en-US" sz="1800" dirty="0" err="1"/>
                        <a:t>Çox</a:t>
                      </a:r>
                      <a:r>
                        <a:rPr lang="en-US" sz="1800" dirty="0"/>
                        <a:t> </a:t>
                      </a:r>
                      <a:r>
                        <a:rPr lang="en-US" sz="1800" dirty="0" err="1"/>
                        <a:t>az</a:t>
                      </a:r>
                      <a:endParaRPr dirty="0"/>
                    </a:p>
                  </a:txBody>
                  <a:tcPr marL="91450" marR="91450" marT="45725" marB="45725"/>
                </a:tc>
                <a:extLst>
                  <a:ext uri="{0D108BD9-81ED-4DB2-BD59-A6C34878D82A}">
                    <a16:rowId xmlns:a16="http://schemas.microsoft.com/office/drawing/2014/main" val="10006"/>
                  </a:ext>
                </a:extLst>
              </a:tr>
              <a:tr h="228600">
                <a:tc>
                  <a:txBody>
                    <a:bodyPr/>
                    <a:lstStyle/>
                    <a:p>
                      <a:pPr marL="0" marR="0" lvl="0" indent="0" algn="l" rtl="0">
                        <a:spcBef>
                          <a:spcPts val="0"/>
                        </a:spcBef>
                        <a:spcAft>
                          <a:spcPts val="0"/>
                        </a:spcAft>
                        <a:buNone/>
                      </a:pPr>
                      <a:r>
                        <a:rPr lang="en-US" sz="1800" dirty="0" err="1"/>
                        <a:t>XGBoost</a:t>
                      </a:r>
                      <a:r>
                        <a:rPr lang="en-US" sz="1800" dirty="0"/>
                        <a:t> (Boosting)</a:t>
                      </a:r>
                      <a:endParaRPr dirty="0"/>
                    </a:p>
                  </a:txBody>
                  <a:tcPr marL="91450" marR="91450" marT="45725" marB="45725"/>
                </a:tc>
                <a:tc>
                  <a:txBody>
                    <a:bodyPr/>
                    <a:lstStyle/>
                    <a:p>
                      <a:pPr marL="0" marR="0" lvl="0" indent="0" algn="l" rtl="0">
                        <a:spcBef>
                          <a:spcPts val="0"/>
                        </a:spcBef>
                        <a:spcAft>
                          <a:spcPts val="0"/>
                        </a:spcAft>
                        <a:buNone/>
                      </a:pPr>
                      <a:r>
                        <a:rPr lang="en-US" sz="1800" dirty="0"/>
                        <a:t>Orta </a:t>
                      </a:r>
                      <a:r>
                        <a:rPr lang="en-US" sz="1800" dirty="0" err="1"/>
                        <a:t>dayanıqlı</a:t>
                      </a:r>
                      <a:endParaRPr dirty="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Lazım deyil</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Lazım deyil</a:t>
                      </a:r>
                      <a:endParaRPr/>
                    </a:p>
                  </a:txBody>
                  <a:tcPr marL="91450" marR="91450" marT="45725" marB="45725"/>
                </a:tc>
                <a:tc>
                  <a:txBody>
                    <a:bodyPr/>
                    <a:lstStyle/>
                    <a:p>
                      <a:pPr marL="0" marR="0" lvl="0" indent="0" algn="l" rtl="0">
                        <a:spcBef>
                          <a:spcPts val="0"/>
                        </a:spcBef>
                        <a:spcAft>
                          <a:spcPts val="0"/>
                        </a:spcAft>
                        <a:buNone/>
                      </a:pPr>
                      <a:r>
                        <a:rPr lang="en-US" sz="1800" dirty="0" err="1"/>
                        <a:t>Çox</a:t>
                      </a:r>
                      <a:r>
                        <a:rPr lang="en-US" sz="1800" dirty="0"/>
                        <a:t> </a:t>
                      </a:r>
                      <a:r>
                        <a:rPr lang="en-US" sz="1800" dirty="0" err="1"/>
                        <a:t>az</a:t>
                      </a:r>
                      <a:endParaRPr dirty="0"/>
                    </a:p>
                  </a:txBody>
                  <a:tcPr marL="91450" marR="91450" marT="45725" marB="45725"/>
                </a:tc>
                <a:extLst>
                  <a:ext uri="{0D108BD9-81ED-4DB2-BD59-A6C34878D82A}">
                    <a16:rowId xmlns:a16="http://schemas.microsoft.com/office/drawing/2014/main" val="10007"/>
                  </a:ext>
                </a:extLst>
              </a:tr>
            </a:tbl>
          </a:graphicData>
        </a:graphic>
      </p:graphicFrame>
      <p:sp>
        <p:nvSpPr>
          <p:cNvPr id="312" name="Google Shape;312;p45"/>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Data Önhazırlığı üçün ML alqoritmalarının fərqi</a:t>
            </a:r>
            <a:endParaRPr sz="2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6"/>
          <p:cNvSpPr txBox="1">
            <a:spLocks noGrp="1"/>
          </p:cNvSpPr>
          <p:nvPr>
            <p:ph type="ctrTitle"/>
          </p:nvPr>
        </p:nvSpPr>
        <p:spPr>
          <a:xfrm>
            <a:off x="1524000" y="1122362"/>
            <a:ext cx="9144000" cy="29924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Bias/Variance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pic>
        <p:nvPicPr>
          <p:cNvPr id="322" name="Google Shape;322;p47"/>
          <p:cNvPicPr preferRelativeResize="0">
            <a:picLocks noGrp="1"/>
          </p:cNvPicPr>
          <p:nvPr>
            <p:ph type="body" idx="1"/>
          </p:nvPr>
        </p:nvPicPr>
        <p:blipFill rotWithShape="1">
          <a:blip r:embed="rId3">
            <a:alphaModFix/>
          </a:blip>
          <a:srcRect r="3586"/>
          <a:stretch/>
        </p:blipFill>
        <p:spPr>
          <a:xfrm>
            <a:off x="3255379" y="1004324"/>
            <a:ext cx="5681242" cy="4983170"/>
          </a:xfrm>
          <a:prstGeom prst="rect">
            <a:avLst/>
          </a:prstGeom>
          <a:noFill/>
          <a:ln>
            <a:noFill/>
          </a:ln>
        </p:spPr>
      </p:pic>
      <p:sp>
        <p:nvSpPr>
          <p:cNvPr id="323" name="Google Shape;323;p47"/>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Bias/Variance</a:t>
            </a:r>
            <a:endParaRPr sz="2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8"/>
          <p:cNvSpPr/>
          <p:nvPr/>
        </p:nvSpPr>
        <p:spPr>
          <a:xfrm>
            <a:off x="0" y="0"/>
            <a:ext cx="12192000"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Bias/Variance</a:t>
            </a:r>
            <a:endParaRPr sz="2800">
              <a:solidFill>
                <a:schemeClr val="dk1"/>
              </a:solidFill>
              <a:latin typeface="Calibri"/>
              <a:ea typeface="Calibri"/>
              <a:cs typeface="Calibri"/>
              <a:sym typeface="Calibri"/>
            </a:endParaRPr>
          </a:p>
        </p:txBody>
      </p:sp>
      <p:pic>
        <p:nvPicPr>
          <p:cNvPr id="329" name="Google Shape;329;p48"/>
          <p:cNvPicPr preferRelativeResize="0"/>
          <p:nvPr/>
        </p:nvPicPr>
        <p:blipFill rotWithShape="1">
          <a:blip r:embed="rId3">
            <a:alphaModFix/>
          </a:blip>
          <a:srcRect/>
          <a:stretch/>
        </p:blipFill>
        <p:spPr>
          <a:xfrm>
            <a:off x="2843487" y="1297114"/>
            <a:ext cx="6382891" cy="426377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736</Words>
  <Application>Microsoft Office PowerPoint</Application>
  <PresentationFormat>Widescreen</PresentationFormat>
  <Paragraphs>140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Supervised Machine Learning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Ensemble Learning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Bias/Variance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Tarlan Cabiyev</cp:lastModifiedBy>
  <cp:revision>3</cp:revision>
  <dcterms:modified xsi:type="dcterms:W3CDTF">2026-07-16T15:30:00Z</dcterms:modified>
</cp:coreProperties>
</file>